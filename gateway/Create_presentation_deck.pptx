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deck: the gateway layer is now standard infrastructure, and this deck scores the field against three requirements that matter to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Gateways moved from nice-to-have to default in 2026 buyer surveys. Teams without one see token spend grow 30-40% faster from ungoverned keys.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 must govern both the console and model traffic, with managed identity to the backend so no provider keys are ever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Copilot supports bring-your-own-key since 2025; routing it through the gateway gives audit, budgets, and data-boundary control over IDE AI traffic. Hostname validation is the one open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Foundry is where our models live. The gateway must treat it as a first-class provider, not a generic HTTP passthrough.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Seven products dominate 2026 enterprise shortlists for AI gateways.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APIM's GenAI gateway capabilities power Foundry's built-in AI Gateway feature and match the architecture we already drew up. Best Azure fit.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widely adopted open-source gateway, with the deepest provider coverage and community.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Best managed enterprise story of the SaaS field: strongest identity provider integration, deploys from the Azure Marketplace.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scorecard across all seven shortlisted products. Cloudflare and Bifrost are the two with a gap: Cloudflare on Entra, Bifrost on Copilot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products clear all three requirements. APIM leads on zero new vendors and being the literal engine behind Foundry's own gateway. Whichever product wins, the request pattern stays the same.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primary recommendation: Azure API Management AI Gateway, Azure-native across all three requirements.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0E12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LANDSCAPE · JULY 2026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7702829" cy="12998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859"/>
              </a:lnSpc>
              <a:buNone/>
            </a:pPr>
            <a:r>
              <a:rPr lang="en-US" sz="8640" b="1" spc="-173" kern="0" dirty="0">
                <a:solidFill>
                  <a:srgbClr val="F1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 an AI gateway</a:t>
            </a:r>
            <a:endParaRPr lang="en-US" sz="8640" dirty="0"/>
          </a:p>
        </p:txBody>
      </p:sp>
      <p:sp>
        <p:nvSpPr>
          <p:cNvPr id="5" name="Text 3"/>
          <p:cNvSpPr/>
          <p:nvPr/>
        </p:nvSpPr>
        <p:spPr>
          <a:xfrm>
            <a:off x="1097260" y="3028256"/>
            <a:ext cx="11678676" cy="1824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920"/>
              </a:lnSpc>
              <a:buNone/>
            </a:pPr>
            <a:r>
              <a:rPr lang="en-US" sz="3024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 the top products in the 2026 market against three requirements: Microsoft Entra ID access control, GitHub Copilot BYOK, and Azure AI Foundry models.</a:t>
            </a:r>
            <a:endParaRPr lang="en-US" sz="3024" dirty="0"/>
          </a:p>
        </p:txBody>
      </p:sp>
      <p:sp>
        <p:nvSpPr>
          <p:cNvPr id="6" name="Text 4"/>
          <p:cNvSpPr/>
          <p:nvPr/>
        </p:nvSpPr>
        <p:spPr>
          <a:xfrm>
            <a:off x="1097260" y="8988623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7" name="Text 5"/>
          <p:cNvSpPr/>
          <p:nvPr/>
        </p:nvSpPr>
        <p:spPr>
          <a:xfrm>
            <a:off x="17048262" y="8988623"/>
            <a:ext cx="21867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1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7702829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5760" b="1" spc="-115" kern="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gateway layer became standard infrastructure</a:t>
            </a:r>
            <a:endParaRPr lang="en-US" sz="5760" dirty="0"/>
          </a:p>
        </p:txBody>
      </p:sp>
      <p:sp>
        <p:nvSpPr>
          <p:cNvPr id="5" name="Text 3"/>
          <p:cNvSpPr/>
          <p:nvPr/>
        </p:nvSpPr>
        <p:spPr>
          <a:xfrm>
            <a:off x="1097260" y="2790527"/>
            <a:ext cx="14315827" cy="124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16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OpenAI-compatible front door now owns identity, budgets, routing, and audit for every model call — this year’s buyer’s-guide data shows why.</a:t>
            </a:r>
            <a:endParaRPr lang="en-US" sz="3168" dirty="0"/>
          </a:p>
        </p:txBody>
      </p:sp>
      <p:sp>
        <p:nvSpPr>
          <p:cNvPr id="6" name="Shape 4"/>
          <p:cNvSpPr/>
          <p:nvPr/>
        </p:nvSpPr>
        <p:spPr>
          <a:xfrm>
            <a:off x="1097260" y="4637484"/>
            <a:ext cx="5047456" cy="3499942"/>
          </a:xfrm>
          <a:prstGeom prst="roundRect">
            <a:avLst>
              <a:gd name="adj" fmla="val 3266"/>
            </a:avLst>
          </a:prstGeom>
          <a:solidFill>
            <a:srgbClr val="F8F9FA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79066" y="5082679"/>
            <a:ext cx="4206359" cy="72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00"/>
              </a:lnSpc>
              <a:buNone/>
            </a:pPr>
            <a:r>
              <a:rPr lang="en-US" sz="208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already running a gateway layer</a:t>
            </a:r>
            <a:endParaRPr lang="en-US" sz="2088" dirty="0"/>
          </a:p>
        </p:txBody>
      </p:sp>
      <p:sp>
        <p:nvSpPr>
          <p:cNvPr id="8" name="Text 6"/>
          <p:cNvSpPr/>
          <p:nvPr/>
        </p:nvSpPr>
        <p:spPr>
          <a:xfrm>
            <a:off x="1579066" y="5954911"/>
            <a:ext cx="4492228" cy="879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58"/>
              </a:lnSpc>
              <a:buNone/>
            </a:pPr>
            <a:r>
              <a:rPr lang="en-US" sz="6624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~42%</a:t>
            </a:r>
            <a:endParaRPr lang="en-US" sz="6624" dirty="0"/>
          </a:p>
        </p:txBody>
      </p:sp>
      <p:sp>
        <p:nvSpPr>
          <p:cNvPr id="9" name="Text 7"/>
          <p:cNvSpPr/>
          <p:nvPr/>
        </p:nvSpPr>
        <p:spPr>
          <a:xfrm>
            <a:off x="1579066" y="6979047"/>
            <a:ext cx="4206359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05"/>
              </a:lnSpc>
              <a:buNone/>
            </a:pPr>
            <a:r>
              <a:rPr lang="en-US" sz="1872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buyer’s-guide surveys (Maxim AI)</a:t>
            </a:r>
            <a:endParaRPr lang="en-US" sz="1872" dirty="0"/>
          </a:p>
        </p:txBody>
      </p:sp>
      <p:sp>
        <p:nvSpPr>
          <p:cNvPr id="10" name="Shape 8"/>
          <p:cNvSpPr/>
          <p:nvPr/>
        </p:nvSpPr>
        <p:spPr>
          <a:xfrm>
            <a:off x="6620173" y="4637484"/>
            <a:ext cx="5047556" cy="3499942"/>
          </a:xfrm>
          <a:prstGeom prst="roundRect">
            <a:avLst>
              <a:gd name="adj" fmla="val 3266"/>
            </a:avLst>
          </a:prstGeom>
          <a:solidFill>
            <a:srgbClr val="F8F9FA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01979" y="5082679"/>
            <a:ext cx="4206461" cy="72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00"/>
              </a:lnSpc>
              <a:buNone/>
            </a:pPr>
            <a:r>
              <a:rPr lang="en-US" sz="208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gateway market growth, CAGR to 2034</a:t>
            </a:r>
            <a:endParaRPr lang="en-US" sz="2088" dirty="0"/>
          </a:p>
        </p:txBody>
      </p:sp>
      <p:sp>
        <p:nvSpPr>
          <p:cNvPr id="12" name="Text 10"/>
          <p:cNvSpPr/>
          <p:nvPr/>
        </p:nvSpPr>
        <p:spPr>
          <a:xfrm>
            <a:off x="7101979" y="5954911"/>
            <a:ext cx="4492337" cy="879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58"/>
              </a:lnSpc>
              <a:buNone/>
            </a:pPr>
            <a:r>
              <a:rPr lang="en-US" sz="6624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~50%</a:t>
            </a:r>
            <a:endParaRPr lang="en-US" sz="6624" dirty="0"/>
          </a:p>
        </p:txBody>
      </p:sp>
      <p:sp>
        <p:nvSpPr>
          <p:cNvPr id="13" name="Text 11"/>
          <p:cNvSpPr/>
          <p:nvPr/>
        </p:nvSpPr>
        <p:spPr>
          <a:xfrm>
            <a:off x="7101979" y="6979047"/>
            <a:ext cx="4492337" cy="3946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05"/>
              </a:lnSpc>
              <a:buNone/>
            </a:pPr>
            <a:r>
              <a:rPr lang="en-US" sz="1872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49.6% CAGR</a:t>
            </a:r>
            <a:endParaRPr lang="en-US" sz="1872" dirty="0"/>
          </a:p>
        </p:txBody>
      </p:sp>
      <p:sp>
        <p:nvSpPr>
          <p:cNvPr id="14" name="Shape 12"/>
          <p:cNvSpPr/>
          <p:nvPr/>
        </p:nvSpPr>
        <p:spPr>
          <a:xfrm>
            <a:off x="12143184" y="4637484"/>
            <a:ext cx="5047556" cy="3499942"/>
          </a:xfrm>
          <a:prstGeom prst="roundRect">
            <a:avLst>
              <a:gd name="adj" fmla="val 3266"/>
            </a:avLst>
          </a:prstGeom>
          <a:solidFill>
            <a:srgbClr val="F8F9FA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624991" y="5082679"/>
            <a:ext cx="4206461" cy="72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00"/>
              </a:lnSpc>
              <a:buNone/>
            </a:pPr>
            <a:r>
              <a:rPr lang="en-US" sz="208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token-spend growth without a gateway</a:t>
            </a:r>
            <a:endParaRPr lang="en-US" sz="2088" dirty="0"/>
          </a:p>
        </p:txBody>
      </p:sp>
      <p:sp>
        <p:nvSpPr>
          <p:cNvPr id="16" name="Text 14"/>
          <p:cNvSpPr/>
          <p:nvPr/>
        </p:nvSpPr>
        <p:spPr>
          <a:xfrm>
            <a:off x="12624991" y="5954911"/>
            <a:ext cx="4492337" cy="8793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158"/>
              </a:lnSpc>
              <a:buNone/>
            </a:pPr>
            <a:r>
              <a:rPr lang="en-US" sz="6624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30–40%</a:t>
            </a:r>
            <a:endParaRPr lang="en-US" sz="6624" dirty="0"/>
          </a:p>
        </p:txBody>
      </p:sp>
      <p:sp>
        <p:nvSpPr>
          <p:cNvPr id="17" name="Text 15"/>
          <p:cNvSpPr/>
          <p:nvPr/>
        </p:nvSpPr>
        <p:spPr>
          <a:xfrm>
            <a:off x="12624991" y="6979047"/>
            <a:ext cx="4206461" cy="7512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05"/>
              </a:lnSpc>
              <a:buNone/>
            </a:pPr>
            <a:r>
              <a:rPr lang="en-US" sz="1872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Ungoverned keys, no caching or budgets</a:t>
            </a:r>
            <a:endParaRPr lang="en-US" sz="1872" dirty="0"/>
          </a:p>
        </p:txBody>
      </p:sp>
      <p:sp>
        <p:nvSpPr>
          <p:cNvPr id="18" name="Text 16"/>
          <p:cNvSpPr/>
          <p:nvPr/>
        </p:nvSpPr>
        <p:spPr>
          <a:xfrm>
            <a:off x="1097260" y="8988623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19" name="Text 17"/>
          <p:cNvSpPr/>
          <p:nvPr/>
        </p:nvSpPr>
        <p:spPr>
          <a:xfrm>
            <a:off x="17048262" y="8988623"/>
            <a:ext cx="21867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1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1 OF 3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7702829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5760" b="1" spc="-115" kern="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access control with Microsoft Entra ID</a:t>
            </a:r>
            <a:endParaRPr lang="en-US" sz="5760" dirty="0"/>
          </a:p>
        </p:txBody>
      </p:sp>
      <p:sp>
        <p:nvSpPr>
          <p:cNvPr id="5" name="Text 3"/>
          <p:cNvSpPr/>
          <p:nvPr/>
        </p:nvSpPr>
        <p:spPr>
          <a:xfrm>
            <a:off x="1097260" y="2790527"/>
            <a:ext cx="14315827" cy="124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16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has to govern both planes of the gateway: the people who administer it, and the workloads that call it.</a:t>
            </a:r>
            <a:endParaRPr lang="en-US" sz="3168" dirty="0"/>
          </a:p>
        </p:txBody>
      </p:sp>
      <p:sp>
        <p:nvSpPr>
          <p:cNvPr id="6" name="Text 4"/>
          <p:cNvSpPr/>
          <p:nvPr/>
        </p:nvSpPr>
        <p:spPr>
          <a:xfrm>
            <a:off x="1298428" y="4454624"/>
            <a:ext cx="15231120" cy="1025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56032" indent="-256032">
              <a:lnSpc>
                <a:spcPct val="117818"/>
              </a:lnSpc>
              <a:buSzPct val="100000"/>
              <a:buChar char="•"/>
            </a:pPr>
            <a:r>
              <a:rPr lang="en-US" sz="288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 </a:t>
            </a:r>
            <a:pPr algn="l" indent="0" marL="0">
              <a:lnSpc>
                <a:spcPct val="117818"/>
              </a:lnSpc>
              <a:buNone/>
            </a:pPr>
            <a:r>
              <a:rPr lang="en-US" sz="288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SSO (OIDC/SAML) into the console, with SCIM provisioning and Entra-group-to-team mapping.</a:t>
            </a:r>
            <a:endParaRPr lang="en-US" sz="2880" dirty="0"/>
          </a:p>
        </p:txBody>
      </p:sp>
      <p:sp>
        <p:nvSpPr>
          <p:cNvPr id="7" name="Text 5"/>
          <p:cNvSpPr/>
          <p:nvPr/>
        </p:nvSpPr>
        <p:spPr>
          <a:xfrm>
            <a:off x="1298428" y="5716290"/>
            <a:ext cx="15231120" cy="1025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56032" indent="-256032">
              <a:lnSpc>
                <a:spcPct val="117818"/>
              </a:lnSpc>
              <a:buSzPct val="100000"/>
              <a:buChar char="•"/>
            </a:pPr>
            <a:r>
              <a:rPr lang="en-US" sz="288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plane </a:t>
            </a:r>
            <a:pPr algn="l" indent="0" marL="0">
              <a:lnSpc>
                <a:spcPct val="117818"/>
              </a:lnSpc>
              <a:buNone/>
            </a:pPr>
            <a:r>
              <a:rPr lang="en-US" sz="288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JWT validation of Entra-issued tokens on model traffic, so access is role-based rather than static-key-based.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1298428" y="6977955"/>
            <a:ext cx="15231120" cy="1025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56032" indent="-256032">
              <a:lnSpc>
                <a:spcPct val="117818"/>
              </a:lnSpc>
              <a:buSzPct val="100000"/>
              <a:buChar char="•"/>
            </a:pPr>
            <a:r>
              <a:rPr lang="en-US" sz="288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</a:t>
            </a:r>
            <a:pPr algn="l" indent="0" marL="0">
              <a:lnSpc>
                <a:spcPct val="117818"/>
              </a:lnSpc>
              <a:buNone/>
            </a:pPr>
            <a:r>
              <a:rPr lang="en-US" sz="288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managed identity from the gateway to Azure model endpoints; no provider keys stored anywhere.</a:t>
            </a:r>
            <a:endParaRPr lang="en-US" sz="2880" dirty="0"/>
          </a:p>
        </p:txBody>
      </p:sp>
      <p:sp>
        <p:nvSpPr>
          <p:cNvPr id="9" name="Text 7"/>
          <p:cNvSpPr/>
          <p:nvPr/>
        </p:nvSpPr>
        <p:spPr>
          <a:xfrm>
            <a:off x="1097260" y="8988623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10" name="Text 8"/>
          <p:cNvSpPr/>
          <p:nvPr/>
        </p:nvSpPr>
        <p:spPr>
          <a:xfrm>
            <a:off x="17048262" y="8988623"/>
            <a:ext cx="21867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2 OF 3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7702829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5760" b="1" spc="-115" kern="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integration, bring your own key</a:t>
            </a:r>
            <a:endParaRPr lang="en-US" sz="5760" dirty="0"/>
          </a:p>
        </p:txBody>
      </p:sp>
      <p:sp>
        <p:nvSpPr>
          <p:cNvPr id="5" name="Text 3"/>
          <p:cNvSpPr/>
          <p:nvPr/>
        </p:nvSpPr>
        <p:spPr>
          <a:xfrm>
            <a:off x="1097260" y="2790527"/>
            <a:ext cx="14315827" cy="184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16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2025, Copilot lets chat and agent sessions point at our own model endpoint. Routing Copilot through the gateway gives us audit, budgets, and data-boundary control over IDE AI traffic.</a:t>
            </a:r>
            <a:endParaRPr lang="en-US" sz="3168" dirty="0"/>
          </a:p>
        </p:txBody>
      </p:sp>
      <p:sp>
        <p:nvSpPr>
          <p:cNvPr id="6" name="Text 4"/>
          <p:cNvSpPr/>
          <p:nvPr/>
        </p:nvSpPr>
        <p:spPr>
          <a:xfrm>
            <a:off x="1298428" y="4966593"/>
            <a:ext cx="15231120" cy="1025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56032" indent="-256032">
              <a:lnSpc>
                <a:spcPct val="117818"/>
              </a:lnSpc>
              <a:buSzPct val="100000"/>
              <a:buChar char="•"/>
            </a:pPr>
            <a:r>
              <a:rPr lang="en-US" sz="288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</a:t>
            </a:r>
            <a:pPr algn="l" indent="0" marL="0">
              <a:lnSpc>
                <a:spcPct val="117818"/>
              </a:lnSpc>
              <a:buNone/>
            </a:pPr>
            <a:r>
              <a:rPr lang="en-US" sz="288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 first-party, documented Copilot BYOK integration (Kong and TrueFoundry publish one).</a:t>
            </a:r>
            <a:endParaRPr lang="en-US" sz="2880" dirty="0"/>
          </a:p>
        </p:txBody>
      </p:sp>
      <p:sp>
        <p:nvSpPr>
          <p:cNvPr id="7" name="Text 5"/>
          <p:cNvSpPr/>
          <p:nvPr/>
        </p:nvSpPr>
        <p:spPr>
          <a:xfrm>
            <a:off x="1298428" y="6228259"/>
            <a:ext cx="15231120" cy="1025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56032" indent="-256032">
              <a:lnSpc>
                <a:spcPct val="117818"/>
              </a:lnSpc>
              <a:buSzPct val="100000"/>
              <a:buChar char="•"/>
            </a:pPr>
            <a:r>
              <a:rPr lang="en-US" sz="288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Acceptable </a:t>
            </a:r>
            <a:pPr algn="l" indent="0" marL="0">
              <a:lnSpc>
                <a:spcPct val="117818"/>
              </a:lnSpc>
              <a:buNone/>
            </a:pPr>
            <a:r>
              <a:rPr lang="en-US" sz="288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any spec-faithful OpenAI-compatible endpoint; Copilot BYOK accepts a custom base URL and key.</a:t>
            </a:r>
            <a:endParaRPr lang="en-US" sz="2880" dirty="0"/>
          </a:p>
        </p:txBody>
      </p:sp>
      <p:sp>
        <p:nvSpPr>
          <p:cNvPr id="8" name="Shape 6"/>
          <p:cNvSpPr/>
          <p:nvPr/>
        </p:nvSpPr>
        <p:spPr>
          <a:xfrm>
            <a:off x="1097260" y="7654528"/>
            <a:ext cx="16093480" cy="1983879"/>
          </a:xfrm>
          <a:prstGeom prst="rect">
            <a:avLst/>
          </a:prstGeom>
          <a:solidFill>
            <a:srgbClr val="FEF8EB"/>
          </a:solidFill>
          <a:ln/>
        </p:spPr>
      </p:sp>
      <p:sp>
        <p:nvSpPr>
          <p:cNvPr id="9" name="Shape 7"/>
          <p:cNvSpPr/>
          <p:nvPr/>
        </p:nvSpPr>
        <p:spPr>
          <a:xfrm>
            <a:off x="1097260" y="7654528"/>
            <a:ext cx="25400" cy="1983879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0" name="Text 8"/>
          <p:cNvSpPr/>
          <p:nvPr/>
        </p:nvSpPr>
        <p:spPr>
          <a:xfrm>
            <a:off x="1524992" y="7947124"/>
            <a:ext cx="15721318" cy="1436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143"/>
              </a:lnSpc>
              <a:buNone/>
            </a:pPr>
            <a:r>
              <a:rPr lang="en-US" sz="2448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Caveat </a:t>
            </a:r>
            <a:pPr algn="l" indent="0" marL="0">
              <a:lnSpc>
                <a:spcPct val="131143"/>
              </a:lnSpc>
              <a:buNone/>
            </a:pPr>
            <a:r>
              <a:rPr lang="en-US" sz="2448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Copilot still applies strict hostname validation for some provider types, which can block gateway-fronted endpoints that impersonate a specific provider API. The OpenAI-compatible path is the reliable one today.</a:t>
            </a:r>
            <a:endParaRPr lang="en-US" sz="2448" dirty="0"/>
          </a:p>
        </p:txBody>
      </p:sp>
      <p:sp>
        <p:nvSpPr>
          <p:cNvPr id="11" name="Text 9"/>
          <p:cNvSpPr/>
          <p:nvPr/>
        </p:nvSpPr>
        <p:spPr>
          <a:xfrm>
            <a:off x="1097260" y="10004128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12" name="Text 10"/>
          <p:cNvSpPr/>
          <p:nvPr/>
        </p:nvSpPr>
        <p:spPr>
          <a:xfrm>
            <a:off x="17048262" y="10004128"/>
            <a:ext cx="21867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3 OF 3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7702829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5760" b="1" spc="-115" kern="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 models</a:t>
            </a:r>
            <a:endParaRPr lang="en-US" sz="5760" dirty="0"/>
          </a:p>
        </p:txBody>
      </p:sp>
      <p:sp>
        <p:nvSpPr>
          <p:cNvPr id="5" name="Text 3"/>
          <p:cNvSpPr/>
          <p:nvPr/>
        </p:nvSpPr>
        <p:spPr>
          <a:xfrm>
            <a:off x="1097260" y="2790527"/>
            <a:ext cx="14315827" cy="184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16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Foundry, which absorbed Azure OpenAI, is where our models live — GPT, Claude, Llama, Mistral, DeepSeek and the rest of the catalog. The gateway must treat it as a first-class provider.</a:t>
            </a:r>
            <a:endParaRPr lang="en-US" sz="3168" dirty="0"/>
          </a:p>
        </p:txBody>
      </p:sp>
      <p:sp>
        <p:nvSpPr>
          <p:cNvPr id="6" name="Text 4"/>
          <p:cNvSpPr/>
          <p:nvPr/>
        </p:nvSpPr>
        <p:spPr>
          <a:xfrm>
            <a:off x="1298428" y="5058073"/>
            <a:ext cx="15231120" cy="1025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56032" indent="-256032">
              <a:lnSpc>
                <a:spcPct val="117818"/>
              </a:lnSpc>
              <a:buSzPct val="100000"/>
              <a:buChar char="•"/>
            </a:pPr>
            <a:r>
              <a:rPr lang="en-US" sz="288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provider support </a:t>
            </a:r>
            <a:pPr algn="l" indent="0" marL="0">
              <a:lnSpc>
                <a:spcPct val="117818"/>
              </a:lnSpc>
              <a:buNone/>
            </a:pPr>
            <a:r>
              <a:rPr lang="en-US" sz="288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Foundry model deployments, not a generic HTTP passthrough.</a:t>
            </a:r>
            <a:endParaRPr lang="en-US" sz="2880" dirty="0"/>
          </a:p>
        </p:txBody>
      </p:sp>
      <p:sp>
        <p:nvSpPr>
          <p:cNvPr id="7" name="Text 5"/>
          <p:cNvSpPr/>
          <p:nvPr/>
        </p:nvSpPr>
        <p:spPr>
          <a:xfrm>
            <a:off x="1298428" y="6319739"/>
            <a:ext cx="16248845" cy="531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56032" indent="-256032">
              <a:lnSpc>
                <a:spcPct val="117818"/>
              </a:lnSpc>
              <a:buSzPct val="100000"/>
              <a:buChar char="•"/>
            </a:pPr>
            <a:r>
              <a:rPr lang="en-US" sz="288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Managed-identity authentication </a:t>
            </a:r>
            <a:pPr algn="l" indent="0" marL="0">
              <a:lnSpc>
                <a:spcPct val="117818"/>
              </a:lnSpc>
              <a:buNone/>
            </a:pPr>
            <a:r>
              <a:rPr lang="en-US" sz="288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Foundry endpoints.</a:t>
            </a:r>
            <a:endParaRPr lang="en-US" sz="2880" dirty="0"/>
          </a:p>
        </p:txBody>
      </p:sp>
      <p:sp>
        <p:nvSpPr>
          <p:cNvPr id="8" name="Text 6"/>
          <p:cNvSpPr/>
          <p:nvPr/>
        </p:nvSpPr>
        <p:spPr>
          <a:xfrm>
            <a:off x="1298428" y="7087692"/>
            <a:ext cx="15231120" cy="1025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56032" indent="-256032">
              <a:lnSpc>
                <a:spcPct val="117818"/>
              </a:lnSpc>
              <a:buSzPct val="100000"/>
              <a:buChar char="•"/>
            </a:pPr>
            <a:r>
              <a:rPr lang="en-US" sz="2880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Notable </a:t>
            </a:r>
            <a:pPr algn="l" indent="0" marL="0">
              <a:lnSpc>
                <a:spcPct val="117818"/>
              </a:lnSpc>
              <a:buNone/>
            </a:pPr>
            <a:r>
              <a:rPr lang="en-US" sz="288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Foundry now ships a built-in “AI Gateway” configuration that is Azure API Management under the hood.</a:t>
            </a:r>
            <a:endParaRPr lang="en-US" sz="2880" dirty="0"/>
          </a:p>
        </p:txBody>
      </p:sp>
      <p:sp>
        <p:nvSpPr>
          <p:cNvPr id="9" name="Text 7"/>
          <p:cNvSpPr/>
          <p:nvPr/>
        </p:nvSpPr>
        <p:spPr>
          <a:xfrm>
            <a:off x="1097260" y="8988623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10" name="Text 8"/>
          <p:cNvSpPr/>
          <p:nvPr/>
        </p:nvSpPr>
        <p:spPr>
          <a:xfrm>
            <a:off x="17048262" y="8988623"/>
            <a:ext cx="21867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1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3199606"/>
            <a:ext cx="17702829" cy="2232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3"/>
              </a:lnSpc>
              <a:buNone/>
            </a:pPr>
            <a:r>
              <a:rPr lang="en-US" sz="17280" b="1" i="1" dirty="0">
                <a:solidFill>
                  <a:srgbClr val="EC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7280" dirty="0"/>
          </a:p>
        </p:txBody>
      </p:sp>
      <p:sp>
        <p:nvSpPr>
          <p:cNvPr id="4" name="Text 2"/>
          <p:cNvSpPr/>
          <p:nvPr/>
        </p:nvSpPr>
        <p:spPr>
          <a:xfrm>
            <a:off x="1097260" y="5576987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F5C2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FIELD</a:t>
            </a:r>
            <a:endParaRPr lang="en-US" sz="2592" dirty="0"/>
          </a:p>
        </p:txBody>
      </p:sp>
      <p:sp>
        <p:nvSpPr>
          <p:cNvPr id="5" name="Text 3"/>
          <p:cNvSpPr/>
          <p:nvPr/>
        </p:nvSpPr>
        <p:spPr>
          <a:xfrm>
            <a:off x="1097260" y="6246218"/>
            <a:ext cx="17702829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5760" b="1" spc="-115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Seven products lead the 2026 shortlist</a:t>
            </a:r>
            <a:endParaRPr lang="en-US" sz="5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PROFILE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2797503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5760" b="1" spc="-115" kern="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API Management · AI Gateway</a:t>
            </a:r>
            <a:endParaRPr lang="en-US" sz="5760" dirty="0"/>
          </a:p>
        </p:txBody>
      </p:sp>
      <p:sp>
        <p:nvSpPr>
          <p:cNvPr id="5" name="Shape 3"/>
          <p:cNvSpPr/>
          <p:nvPr/>
        </p:nvSpPr>
        <p:spPr>
          <a:xfrm>
            <a:off x="12987338" y="1931888"/>
            <a:ext cx="2645569" cy="493713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/>
        </p:spPr>
      </p:sp>
      <p:sp>
        <p:nvSpPr>
          <p:cNvPr id="6" name="Text 4"/>
          <p:cNvSpPr/>
          <p:nvPr/>
        </p:nvSpPr>
        <p:spPr>
          <a:xfrm>
            <a:off x="13261658" y="2059904"/>
            <a:ext cx="2176296" cy="2757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87070"/>
              </a:lnSpc>
              <a:buNone/>
            </a:pPr>
            <a:r>
              <a:rPr lang="en-US" sz="1872" b="1" spc="1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AZURE FIT</a:t>
            </a:r>
            <a:endParaRPr lang="en-US" sz="1872" dirty="0"/>
          </a:p>
        </p:txBody>
      </p:sp>
      <p:sp>
        <p:nvSpPr>
          <p:cNvPr id="7" name="Text 5"/>
          <p:cNvSpPr/>
          <p:nvPr/>
        </p:nvSpPr>
        <p:spPr>
          <a:xfrm>
            <a:off x="1097260" y="2534444"/>
            <a:ext cx="17702829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45"/>
              </a:lnSpc>
              <a:buNone/>
            </a:pPr>
            <a:r>
              <a:rPr lang="en-US" sz="2160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· Azure PaaS · commercial</a:t>
            </a:r>
            <a:endParaRPr lang="en-US" sz="2160" dirty="0"/>
          </a:p>
        </p:txBody>
      </p:sp>
      <p:sp>
        <p:nvSpPr>
          <p:cNvPr id="8" name="Text 6"/>
          <p:cNvSpPr/>
          <p:nvPr/>
        </p:nvSpPr>
        <p:spPr>
          <a:xfrm>
            <a:off x="1097260" y="3238500"/>
            <a:ext cx="15069312" cy="184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16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limiting, token metrics, semantic caching, load balancing across deployments, and content-safety enforcement applied to AI APIs — the engine behind Foundry’s own AI Gateway feature.</a:t>
            </a:r>
            <a:endParaRPr lang="en-US" sz="3168" dirty="0"/>
          </a:p>
        </p:txBody>
      </p:sp>
      <p:sp>
        <p:nvSpPr>
          <p:cNvPr id="9" name="Text 7"/>
          <p:cNvSpPr/>
          <p:nvPr/>
        </p:nvSpPr>
        <p:spPr>
          <a:xfrm>
            <a:off x="1097260" y="5710932"/>
            <a:ext cx="2615119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91"/>
              </a:lnSpc>
              <a:buNone/>
            </a:pPr>
            <a:r>
              <a:rPr lang="en-US" sz="1872" b="1" spc="94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</a:t>
            </a:r>
            <a:endParaRPr lang="en-US" sz="1872" dirty="0"/>
          </a:p>
        </p:txBody>
      </p:sp>
      <p:sp>
        <p:nvSpPr>
          <p:cNvPr id="10" name="Text 8"/>
          <p:cNvSpPr/>
          <p:nvPr/>
        </p:nvSpPr>
        <p:spPr>
          <a:xfrm>
            <a:off x="3730625" y="5615682"/>
            <a:ext cx="13863919" cy="934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93"/>
              </a:lnSpc>
              <a:buNone/>
            </a:pPr>
            <a:r>
              <a:rPr lang="en-US" sz="252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Native. </a:t>
            </a:r>
            <a:pPr algn="l" indent="0" marL="0">
              <a:lnSpc>
                <a:spcPct val="119593"/>
              </a:lnSpc>
              <a:buNone/>
            </a:pPr>
            <a:r>
              <a:rPr lang="en-US" sz="252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everywhere: JWT validation policies, OAuth credential manager, managed identity to backends.</a:t>
            </a:r>
            <a:endParaRPr lang="en-US" sz="2520" dirty="0"/>
          </a:p>
        </p:txBody>
      </p:sp>
      <p:sp>
        <p:nvSpPr>
          <p:cNvPr id="11" name="Shape 9"/>
          <p:cNvSpPr/>
          <p:nvPr/>
        </p:nvSpPr>
        <p:spPr>
          <a:xfrm>
            <a:off x="1097260" y="6712943"/>
            <a:ext cx="1609348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60" y="7015659"/>
            <a:ext cx="2615119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91"/>
              </a:lnSpc>
              <a:buNone/>
            </a:pPr>
            <a:r>
              <a:rPr lang="en-US" sz="1872" b="1" spc="94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872" dirty="0"/>
          </a:p>
        </p:txBody>
      </p:sp>
      <p:sp>
        <p:nvSpPr>
          <p:cNvPr id="13" name="Text 11"/>
          <p:cNvSpPr/>
          <p:nvPr/>
        </p:nvSpPr>
        <p:spPr>
          <a:xfrm>
            <a:off x="3730625" y="6920409"/>
            <a:ext cx="13863919" cy="934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93"/>
              </a:lnSpc>
              <a:buNone/>
            </a:pPr>
            <a:r>
              <a:rPr lang="en-US" sz="252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Yes. </a:t>
            </a:r>
            <a:pPr algn="l" indent="0" marL="0">
              <a:lnSpc>
                <a:spcPct val="119593"/>
              </a:lnSpc>
              <a:buNone/>
            </a:pPr>
            <a:r>
              <a:rPr lang="en-US" sz="252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Exposes an OpenAI-compatible endpoint Copilot BYOK can target; same Microsoft support chain.</a:t>
            </a:r>
            <a:endParaRPr lang="en-US" sz="2520" dirty="0"/>
          </a:p>
        </p:txBody>
      </p:sp>
      <p:sp>
        <p:nvSpPr>
          <p:cNvPr id="14" name="Shape 12"/>
          <p:cNvSpPr/>
          <p:nvPr/>
        </p:nvSpPr>
        <p:spPr>
          <a:xfrm>
            <a:off x="1097260" y="8017669"/>
            <a:ext cx="1609348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60" y="8320385"/>
            <a:ext cx="2615119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91"/>
              </a:lnSpc>
              <a:buNone/>
            </a:pPr>
            <a:r>
              <a:rPr lang="en-US" sz="1872" b="1" spc="94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</a:t>
            </a:r>
            <a:endParaRPr lang="en-US" sz="1872" dirty="0"/>
          </a:p>
        </p:txBody>
      </p:sp>
      <p:sp>
        <p:nvSpPr>
          <p:cNvPr id="16" name="Text 14"/>
          <p:cNvSpPr/>
          <p:nvPr/>
        </p:nvSpPr>
        <p:spPr>
          <a:xfrm>
            <a:off x="3730625" y="8225135"/>
            <a:ext cx="13718977" cy="486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93"/>
              </a:lnSpc>
              <a:buNone/>
            </a:pPr>
            <a:r>
              <a:rPr lang="en-US" sz="252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Native. </a:t>
            </a:r>
            <a:pPr algn="l" indent="0" marL="0">
              <a:lnSpc>
                <a:spcPct val="119593"/>
              </a:lnSpc>
              <a:buNone/>
            </a:pPr>
            <a:r>
              <a:rPr lang="en-US" sz="252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One-click Foundry API import wizard; powers Foundry’s own gateway feature.</a:t>
            </a:r>
            <a:endParaRPr lang="en-US" sz="2520" dirty="0"/>
          </a:p>
        </p:txBody>
      </p:sp>
      <p:sp>
        <p:nvSpPr>
          <p:cNvPr id="17" name="Text 15"/>
          <p:cNvSpPr/>
          <p:nvPr/>
        </p:nvSpPr>
        <p:spPr>
          <a:xfrm>
            <a:off x="1097260" y="9240044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18" name="Text 16"/>
          <p:cNvSpPr/>
          <p:nvPr/>
        </p:nvSpPr>
        <p:spPr>
          <a:xfrm>
            <a:off x="17048262" y="9240044"/>
            <a:ext cx="21867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1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PROFILE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7702829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5760" b="1" spc="-115" kern="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</a:t>
            </a:r>
            <a:endParaRPr lang="en-US" sz="5760" dirty="0"/>
          </a:p>
        </p:txBody>
      </p:sp>
      <p:sp>
        <p:nvSpPr>
          <p:cNvPr id="5" name="Text 3"/>
          <p:cNvSpPr/>
          <p:nvPr/>
        </p:nvSpPr>
        <p:spPr>
          <a:xfrm>
            <a:off x="1097260" y="2534444"/>
            <a:ext cx="17702829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45"/>
              </a:lnSpc>
              <a:buNone/>
            </a:pPr>
            <a:r>
              <a:rPr lang="en-US" sz="2160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BerriAI · self-hosted proxy · OSS core + enterprise tier</a:t>
            </a: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1097260" y="3238500"/>
            <a:ext cx="15069312" cy="124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16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OpenAI-compatible proxy over 100+ providers with virtual keys, budgets, and team management. Huge community; Python-based.</a:t>
            </a:r>
            <a:endParaRPr lang="en-US" sz="3168" dirty="0"/>
          </a:p>
        </p:txBody>
      </p:sp>
      <p:sp>
        <p:nvSpPr>
          <p:cNvPr id="7" name="Text 5"/>
          <p:cNvSpPr/>
          <p:nvPr/>
        </p:nvSpPr>
        <p:spPr>
          <a:xfrm>
            <a:off x="1097260" y="5107484"/>
            <a:ext cx="2615119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91"/>
              </a:lnSpc>
              <a:buNone/>
            </a:pPr>
            <a:r>
              <a:rPr lang="en-US" sz="1872" b="1" spc="94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</a:t>
            </a:r>
            <a:endParaRPr lang="en-US" sz="1872" dirty="0"/>
          </a:p>
        </p:txBody>
      </p:sp>
      <p:sp>
        <p:nvSpPr>
          <p:cNvPr id="8" name="Text 6"/>
          <p:cNvSpPr/>
          <p:nvPr/>
        </p:nvSpPr>
        <p:spPr>
          <a:xfrm>
            <a:off x="3730625" y="5012234"/>
            <a:ext cx="13863919" cy="934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93"/>
              </a:lnSpc>
              <a:buNone/>
            </a:pPr>
            <a:r>
              <a:rPr lang="en-US" sz="252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Yes. </a:t>
            </a:r>
            <a:pPr algn="l" indent="0" marL="0">
              <a:lnSpc>
                <a:spcPct val="119593"/>
              </a:lnSpc>
              <a:buNone/>
            </a:pPr>
            <a:r>
              <a:rPr lang="en-US" sz="252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SSO for the admin UI, JWT/OIDC auth on the data plane, Entra-group-to-team sync (enterprise).</a:t>
            </a:r>
            <a:endParaRPr lang="en-US" sz="2520" dirty="0"/>
          </a:p>
        </p:txBody>
      </p:sp>
      <p:sp>
        <p:nvSpPr>
          <p:cNvPr id="9" name="Shape 7"/>
          <p:cNvSpPr/>
          <p:nvPr/>
        </p:nvSpPr>
        <p:spPr>
          <a:xfrm>
            <a:off x="1097260" y="6109494"/>
            <a:ext cx="1609348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60" y="6412210"/>
            <a:ext cx="2615119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91"/>
              </a:lnSpc>
              <a:buNone/>
            </a:pPr>
            <a:r>
              <a:rPr lang="en-US" sz="1872" b="1" spc="94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872" dirty="0"/>
          </a:p>
        </p:txBody>
      </p:sp>
      <p:sp>
        <p:nvSpPr>
          <p:cNvPr id="11" name="Text 9"/>
          <p:cNvSpPr/>
          <p:nvPr/>
        </p:nvSpPr>
        <p:spPr>
          <a:xfrm>
            <a:off x="3730625" y="6316960"/>
            <a:ext cx="13863919" cy="934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93"/>
              </a:lnSpc>
              <a:buNone/>
            </a:pPr>
            <a:r>
              <a:rPr lang="en-US" sz="252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Documented. </a:t>
            </a:r>
            <a:pPr algn="l" indent="0" marL="0">
              <a:lnSpc>
                <a:spcPct val="119593"/>
              </a:lnSpc>
              <a:buNone/>
            </a:pPr>
            <a:r>
              <a:rPr lang="en-US" sz="252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Community-proven VS Code override and BYOK base-URL pattern; also proxies Copilot’s own models.</a:t>
            </a:r>
            <a:endParaRPr lang="en-US" sz="2520" dirty="0"/>
          </a:p>
        </p:txBody>
      </p:sp>
      <p:sp>
        <p:nvSpPr>
          <p:cNvPr id="12" name="Shape 10"/>
          <p:cNvSpPr/>
          <p:nvPr/>
        </p:nvSpPr>
        <p:spPr>
          <a:xfrm>
            <a:off x="1097260" y="7414221"/>
            <a:ext cx="1609348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60" y="7716937"/>
            <a:ext cx="2615119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91"/>
              </a:lnSpc>
              <a:buNone/>
            </a:pPr>
            <a:r>
              <a:rPr lang="en-US" sz="1872" b="1" spc="94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</a:t>
            </a:r>
            <a:endParaRPr lang="en-US" sz="1872" dirty="0"/>
          </a:p>
        </p:txBody>
      </p:sp>
      <p:sp>
        <p:nvSpPr>
          <p:cNvPr id="14" name="Text 12"/>
          <p:cNvSpPr/>
          <p:nvPr/>
        </p:nvSpPr>
        <p:spPr>
          <a:xfrm>
            <a:off x="3730625" y="7621687"/>
            <a:ext cx="13863919" cy="934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93"/>
              </a:lnSpc>
              <a:buNone/>
            </a:pPr>
            <a:r>
              <a:rPr lang="en-US" sz="252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Native. </a:t>
            </a:r>
            <a:pPr algn="l" indent="0" marL="0">
              <a:lnSpc>
                <a:spcPct val="119593"/>
              </a:lnSpc>
              <a:buNone/>
            </a:pPr>
            <a:r>
              <a:rPr lang="en-US" sz="252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First-class azure/ and azure_ai/ providers, including Foundry agents, with Azure AD token auth.</a:t>
            </a:r>
            <a:endParaRPr lang="en-US" sz="2520" dirty="0"/>
          </a:p>
        </p:txBody>
      </p:sp>
      <p:sp>
        <p:nvSpPr>
          <p:cNvPr id="15" name="Text 13"/>
          <p:cNvSpPr/>
          <p:nvPr/>
        </p:nvSpPr>
        <p:spPr>
          <a:xfrm>
            <a:off x="1097260" y="9084668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16" name="Text 14"/>
          <p:cNvSpPr/>
          <p:nvPr/>
        </p:nvSpPr>
        <p:spPr>
          <a:xfrm>
            <a:off x="17048262" y="9084668"/>
            <a:ext cx="21867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1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PROFILE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7702829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5760" b="1" spc="-115" kern="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Portkey</a:t>
            </a:r>
            <a:endParaRPr lang="en-US" sz="5760" dirty="0"/>
          </a:p>
        </p:txBody>
      </p:sp>
      <p:sp>
        <p:nvSpPr>
          <p:cNvPr id="5" name="Text 3"/>
          <p:cNvSpPr/>
          <p:nvPr/>
        </p:nvSpPr>
        <p:spPr>
          <a:xfrm>
            <a:off x="1097260" y="2534444"/>
            <a:ext cx="17702829" cy="449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245"/>
              </a:lnSpc>
              <a:buNone/>
            </a:pPr>
            <a:r>
              <a:rPr lang="en-US" sz="2160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Portkey AI · SaaS or self-hosted · gateway open-sourced (Apache 2.0, Mar 2026)</a:t>
            </a:r>
            <a:endParaRPr lang="en-US" sz="2160" dirty="0"/>
          </a:p>
        </p:txBody>
      </p:sp>
      <p:sp>
        <p:nvSpPr>
          <p:cNvPr id="6" name="Text 4"/>
          <p:cNvSpPr/>
          <p:nvPr/>
        </p:nvSpPr>
        <p:spPr>
          <a:xfrm>
            <a:off x="1097260" y="3238500"/>
            <a:ext cx="15069312" cy="1848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16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production-safety-focused gateway: guardrails, PII redaction, jailbreak detection, and audit trails built in. 1,800+ models; deployable from the Azure Marketplace.</a:t>
            </a:r>
            <a:endParaRPr lang="en-US" sz="3168" dirty="0"/>
          </a:p>
        </p:txBody>
      </p:sp>
      <p:sp>
        <p:nvSpPr>
          <p:cNvPr id="7" name="Text 5"/>
          <p:cNvSpPr/>
          <p:nvPr/>
        </p:nvSpPr>
        <p:spPr>
          <a:xfrm>
            <a:off x="1097260" y="5710932"/>
            <a:ext cx="2615119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91"/>
              </a:lnSpc>
              <a:buNone/>
            </a:pPr>
            <a:r>
              <a:rPr lang="en-US" sz="1872" b="1" spc="94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</a:t>
            </a:r>
            <a:endParaRPr lang="en-US" sz="1872" dirty="0"/>
          </a:p>
        </p:txBody>
      </p:sp>
      <p:sp>
        <p:nvSpPr>
          <p:cNvPr id="8" name="Text 6"/>
          <p:cNvSpPr/>
          <p:nvPr/>
        </p:nvSpPr>
        <p:spPr>
          <a:xfrm>
            <a:off x="3730625" y="5615682"/>
            <a:ext cx="13863919" cy="934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93"/>
              </a:lnSpc>
              <a:buNone/>
            </a:pPr>
            <a:r>
              <a:rPr lang="en-US" sz="252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Yes. </a:t>
            </a:r>
            <a:pPr algn="l" indent="0" marL="0">
              <a:lnSpc>
                <a:spcPct val="119593"/>
              </a:lnSpc>
              <a:buNone/>
            </a:pPr>
            <a:r>
              <a:rPr lang="en-US" sz="252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IdP story of the SaaS field: Entra SSO + SCIM auto-provisioning, JWT gateway auth (enterprise plan).</a:t>
            </a:r>
            <a:endParaRPr lang="en-US" sz="2520" dirty="0"/>
          </a:p>
        </p:txBody>
      </p:sp>
      <p:sp>
        <p:nvSpPr>
          <p:cNvPr id="9" name="Shape 7"/>
          <p:cNvSpPr/>
          <p:nvPr/>
        </p:nvSpPr>
        <p:spPr>
          <a:xfrm>
            <a:off x="1097260" y="6712943"/>
            <a:ext cx="1609348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60" y="7015659"/>
            <a:ext cx="2615119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91"/>
              </a:lnSpc>
              <a:buNone/>
            </a:pPr>
            <a:r>
              <a:rPr lang="en-US" sz="1872" b="1" spc="94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</a:t>
            </a:r>
            <a:endParaRPr lang="en-US" sz="1872" dirty="0"/>
          </a:p>
        </p:txBody>
      </p:sp>
      <p:sp>
        <p:nvSpPr>
          <p:cNvPr id="11" name="Text 9"/>
          <p:cNvSpPr/>
          <p:nvPr/>
        </p:nvSpPr>
        <p:spPr>
          <a:xfrm>
            <a:off x="3730625" y="6920409"/>
            <a:ext cx="10765850" cy="4861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93"/>
              </a:lnSpc>
              <a:buNone/>
            </a:pPr>
            <a:r>
              <a:rPr lang="en-US" sz="252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Yes. </a:t>
            </a:r>
            <a:pPr algn="l" indent="0" marL="0">
              <a:lnSpc>
                <a:spcPct val="119593"/>
              </a:lnSpc>
              <a:buNone/>
            </a:pPr>
            <a:r>
              <a:rPr lang="en-US" sz="252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endpoint works as a Copilot BYOK target.</a:t>
            </a:r>
            <a:endParaRPr lang="en-US" sz="2520" dirty="0"/>
          </a:p>
        </p:txBody>
      </p:sp>
      <p:sp>
        <p:nvSpPr>
          <p:cNvPr id="12" name="Shape 10"/>
          <p:cNvSpPr/>
          <p:nvPr/>
        </p:nvSpPr>
        <p:spPr>
          <a:xfrm>
            <a:off x="1097260" y="7569597"/>
            <a:ext cx="1609348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60" y="7872314"/>
            <a:ext cx="2615119" cy="3470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91"/>
              </a:lnSpc>
              <a:buNone/>
            </a:pPr>
            <a:r>
              <a:rPr lang="en-US" sz="1872" b="1" spc="94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</a:t>
            </a:r>
            <a:endParaRPr lang="en-US" sz="1872" dirty="0"/>
          </a:p>
        </p:txBody>
      </p:sp>
      <p:sp>
        <p:nvSpPr>
          <p:cNvPr id="14" name="Text 12"/>
          <p:cNvSpPr/>
          <p:nvPr/>
        </p:nvSpPr>
        <p:spPr>
          <a:xfrm>
            <a:off x="3730625" y="7777064"/>
            <a:ext cx="13863919" cy="934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593"/>
              </a:lnSpc>
              <a:buNone/>
            </a:pPr>
            <a:r>
              <a:rPr lang="en-US" sz="252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Native. </a:t>
            </a:r>
            <a:pPr algn="l" indent="0" marL="0">
              <a:lnSpc>
                <a:spcPct val="119593"/>
              </a:lnSpc>
              <a:buNone/>
            </a:pPr>
            <a:r>
              <a:rPr lang="en-US" sz="252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and Foundry integrations with caching, retries, fallbacks, and observability.</a:t>
            </a:r>
            <a:endParaRPr lang="en-US" sz="2520" dirty="0"/>
          </a:p>
        </p:txBody>
      </p:sp>
      <p:sp>
        <p:nvSpPr>
          <p:cNvPr id="15" name="Text 13"/>
          <p:cNvSpPr/>
          <p:nvPr/>
        </p:nvSpPr>
        <p:spPr>
          <a:xfrm>
            <a:off x="1097260" y="9240044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16" name="Text 14"/>
          <p:cNvSpPr/>
          <p:nvPr/>
        </p:nvSpPr>
        <p:spPr>
          <a:xfrm>
            <a:off x="17048262" y="9240044"/>
            <a:ext cx="21867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1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BY SIDE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7702829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5760" b="1" spc="-115" kern="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 scorecard</a:t>
            </a:r>
            <a:endParaRPr lang="en-US" sz="5760" dirty="0"/>
          </a:p>
        </p:txBody>
      </p:sp>
      <p:sp>
        <p:nvSpPr>
          <p:cNvPr id="5" name="Shape 3"/>
          <p:cNvSpPr/>
          <p:nvPr/>
        </p:nvSpPr>
        <p:spPr>
          <a:xfrm>
            <a:off x="1097260" y="3097312"/>
            <a:ext cx="2694186" cy="9525"/>
          </a:xfrm>
          <a:prstGeom prst="rect">
            <a:avLst/>
          </a:prstGeom>
          <a:solidFill>
            <a:srgbClr val="CDD2D9"/>
          </a:solidFill>
          <a:ln/>
        </p:spPr>
      </p:sp>
      <p:sp>
        <p:nvSpPr>
          <p:cNvPr id="6" name="Text 4"/>
          <p:cNvSpPr/>
          <p:nvPr/>
        </p:nvSpPr>
        <p:spPr>
          <a:xfrm>
            <a:off x="1316716" y="2644180"/>
            <a:ext cx="2336100" cy="308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305"/>
              </a:lnSpc>
              <a:buNone/>
            </a:pPr>
            <a:r>
              <a:rPr lang="en-US" sz="1656" b="1" spc="83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656" dirty="0"/>
          </a:p>
        </p:txBody>
      </p:sp>
      <p:sp>
        <p:nvSpPr>
          <p:cNvPr id="7" name="Shape 5"/>
          <p:cNvSpPr/>
          <p:nvPr/>
        </p:nvSpPr>
        <p:spPr>
          <a:xfrm>
            <a:off x="3791446" y="3097312"/>
            <a:ext cx="3082727" cy="9525"/>
          </a:xfrm>
          <a:prstGeom prst="rect">
            <a:avLst/>
          </a:prstGeom>
          <a:solidFill>
            <a:srgbClr val="CDD2D9"/>
          </a:solidFill>
          <a:ln/>
        </p:spPr>
      </p:sp>
      <p:sp>
        <p:nvSpPr>
          <p:cNvPr id="8" name="Text 6"/>
          <p:cNvSpPr/>
          <p:nvPr/>
        </p:nvSpPr>
        <p:spPr>
          <a:xfrm>
            <a:off x="4010902" y="2644180"/>
            <a:ext cx="2736296" cy="308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305"/>
              </a:lnSpc>
              <a:buNone/>
            </a:pPr>
            <a:r>
              <a:rPr lang="en-US" sz="1656" b="1" spc="83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</a:t>
            </a:r>
            <a:endParaRPr lang="en-US" sz="1656" dirty="0"/>
          </a:p>
        </p:txBody>
      </p:sp>
      <p:sp>
        <p:nvSpPr>
          <p:cNvPr id="9" name="Shape 7"/>
          <p:cNvSpPr/>
          <p:nvPr/>
        </p:nvSpPr>
        <p:spPr>
          <a:xfrm>
            <a:off x="6874173" y="3097312"/>
            <a:ext cx="2966641" cy="9525"/>
          </a:xfrm>
          <a:prstGeom prst="rect">
            <a:avLst/>
          </a:prstGeom>
          <a:solidFill>
            <a:srgbClr val="CDD2D9"/>
          </a:solidFill>
          <a:ln/>
        </p:spPr>
      </p:sp>
      <p:sp>
        <p:nvSpPr>
          <p:cNvPr id="10" name="Text 8"/>
          <p:cNvSpPr/>
          <p:nvPr/>
        </p:nvSpPr>
        <p:spPr>
          <a:xfrm>
            <a:off x="7093629" y="2644180"/>
            <a:ext cx="2616728" cy="308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305"/>
              </a:lnSpc>
              <a:buNone/>
            </a:pPr>
            <a:r>
              <a:rPr lang="en-US" sz="1656" b="1" spc="83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(BYOK)</a:t>
            </a:r>
            <a:endParaRPr lang="en-US" sz="1656" dirty="0"/>
          </a:p>
        </p:txBody>
      </p:sp>
      <p:sp>
        <p:nvSpPr>
          <p:cNvPr id="11" name="Shape 9"/>
          <p:cNvSpPr/>
          <p:nvPr/>
        </p:nvSpPr>
        <p:spPr>
          <a:xfrm>
            <a:off x="9840813" y="3097312"/>
            <a:ext cx="2775446" cy="9525"/>
          </a:xfrm>
          <a:prstGeom prst="rect">
            <a:avLst/>
          </a:prstGeom>
          <a:solidFill>
            <a:srgbClr val="CDD2D9"/>
          </a:solidFill>
          <a:ln/>
        </p:spPr>
      </p:sp>
      <p:sp>
        <p:nvSpPr>
          <p:cNvPr id="12" name="Text 10"/>
          <p:cNvSpPr/>
          <p:nvPr/>
        </p:nvSpPr>
        <p:spPr>
          <a:xfrm>
            <a:off x="10060269" y="2644180"/>
            <a:ext cx="2419798" cy="308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305"/>
              </a:lnSpc>
              <a:buNone/>
            </a:pPr>
            <a:r>
              <a:rPr lang="en-US" sz="1656" b="1" spc="83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</a:t>
            </a:r>
            <a:endParaRPr lang="en-US" sz="1656" dirty="0"/>
          </a:p>
        </p:txBody>
      </p:sp>
      <p:sp>
        <p:nvSpPr>
          <p:cNvPr id="13" name="Shape 11"/>
          <p:cNvSpPr/>
          <p:nvPr/>
        </p:nvSpPr>
        <p:spPr>
          <a:xfrm>
            <a:off x="12616260" y="3097312"/>
            <a:ext cx="2464991" cy="9525"/>
          </a:xfrm>
          <a:prstGeom prst="rect">
            <a:avLst/>
          </a:prstGeom>
          <a:solidFill>
            <a:srgbClr val="CDD2D9"/>
          </a:solidFill>
          <a:ln/>
        </p:spPr>
      </p:sp>
      <p:sp>
        <p:nvSpPr>
          <p:cNvPr id="14" name="Text 12"/>
          <p:cNvSpPr/>
          <p:nvPr/>
        </p:nvSpPr>
        <p:spPr>
          <a:xfrm>
            <a:off x="12835716" y="2644180"/>
            <a:ext cx="2102279" cy="308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305"/>
              </a:lnSpc>
              <a:buNone/>
            </a:pPr>
            <a:r>
              <a:rPr lang="en-US" sz="1656" b="1" spc="83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</a:t>
            </a:r>
            <a:endParaRPr lang="en-US" sz="1656" dirty="0"/>
          </a:p>
        </p:txBody>
      </p:sp>
      <p:sp>
        <p:nvSpPr>
          <p:cNvPr id="15" name="Shape 13"/>
          <p:cNvSpPr/>
          <p:nvPr/>
        </p:nvSpPr>
        <p:spPr>
          <a:xfrm>
            <a:off x="15081250" y="3097312"/>
            <a:ext cx="2109490" cy="9525"/>
          </a:xfrm>
          <a:prstGeom prst="rect">
            <a:avLst/>
          </a:prstGeom>
          <a:solidFill>
            <a:srgbClr val="CDD2D9"/>
          </a:solidFill>
          <a:ln/>
        </p:spPr>
      </p:sp>
      <p:sp>
        <p:nvSpPr>
          <p:cNvPr id="16" name="Text 14"/>
          <p:cNvSpPr/>
          <p:nvPr/>
        </p:nvSpPr>
        <p:spPr>
          <a:xfrm>
            <a:off x="15300706" y="2644180"/>
            <a:ext cx="1746778" cy="3083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13305"/>
              </a:lnSpc>
              <a:buNone/>
            </a:pPr>
            <a:r>
              <a:rPr lang="en-US" sz="1656" b="1" spc="83" kern="0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</a:t>
            </a:r>
            <a:endParaRPr lang="en-US" sz="1656" dirty="0"/>
          </a:p>
        </p:txBody>
      </p:sp>
      <p:sp>
        <p:nvSpPr>
          <p:cNvPr id="17" name="Shape 15"/>
          <p:cNvSpPr/>
          <p:nvPr/>
        </p:nvSpPr>
        <p:spPr>
          <a:xfrm>
            <a:off x="1097260" y="4526359"/>
            <a:ext cx="269418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8" name="Text 16"/>
          <p:cNvSpPr/>
          <p:nvPr/>
        </p:nvSpPr>
        <p:spPr>
          <a:xfrm>
            <a:off x="1316716" y="3304830"/>
            <a:ext cx="2336100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3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APIM AI Gateway</a:t>
            </a:r>
            <a:endParaRPr lang="en-US" sz="2016" dirty="0"/>
          </a:p>
        </p:txBody>
      </p:sp>
      <p:sp>
        <p:nvSpPr>
          <p:cNvPr id="19" name="Shape 17"/>
          <p:cNvSpPr/>
          <p:nvPr/>
        </p:nvSpPr>
        <p:spPr>
          <a:xfrm>
            <a:off x="3791446" y="4526359"/>
            <a:ext cx="3082727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20" name="Text 18"/>
          <p:cNvSpPr/>
          <p:nvPr/>
        </p:nvSpPr>
        <p:spPr>
          <a:xfrm>
            <a:off x="4010819" y="3352403"/>
            <a:ext cx="10485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</a:t>
            </a:r>
            <a:endParaRPr lang="en-US" sz="1901" dirty="0"/>
          </a:p>
        </p:txBody>
      </p:sp>
      <p:sp>
        <p:nvSpPr>
          <p:cNvPr id="21" name="Text 19"/>
          <p:cNvSpPr/>
          <p:nvPr/>
        </p:nvSpPr>
        <p:spPr>
          <a:xfrm>
            <a:off x="4010819" y="3724771"/>
            <a:ext cx="2723301" cy="64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policies, managed identity</a:t>
            </a:r>
            <a:endParaRPr lang="en-US" sz="1584" dirty="0"/>
          </a:p>
        </p:txBody>
      </p:sp>
      <p:sp>
        <p:nvSpPr>
          <p:cNvPr id="22" name="Shape 20"/>
          <p:cNvSpPr/>
          <p:nvPr/>
        </p:nvSpPr>
        <p:spPr>
          <a:xfrm>
            <a:off x="6874173" y="4526359"/>
            <a:ext cx="296664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23" name="Text 21"/>
          <p:cNvSpPr/>
          <p:nvPr/>
        </p:nvSpPr>
        <p:spPr>
          <a:xfrm>
            <a:off x="7093546" y="3352403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24" name="Text 22"/>
          <p:cNvSpPr/>
          <p:nvPr/>
        </p:nvSpPr>
        <p:spPr>
          <a:xfrm>
            <a:off x="7093546" y="3724771"/>
            <a:ext cx="2604095" cy="64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endpoint</a:t>
            </a:r>
            <a:endParaRPr lang="en-US" sz="1584" dirty="0"/>
          </a:p>
        </p:txBody>
      </p:sp>
      <p:sp>
        <p:nvSpPr>
          <p:cNvPr id="25" name="Shape 23"/>
          <p:cNvSpPr/>
          <p:nvPr/>
        </p:nvSpPr>
        <p:spPr>
          <a:xfrm>
            <a:off x="9840813" y="4526359"/>
            <a:ext cx="277544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26" name="Text 24"/>
          <p:cNvSpPr/>
          <p:nvPr/>
        </p:nvSpPr>
        <p:spPr>
          <a:xfrm>
            <a:off x="10060186" y="3352403"/>
            <a:ext cx="10485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</a:t>
            </a:r>
            <a:endParaRPr lang="en-US" sz="1901" dirty="0"/>
          </a:p>
        </p:txBody>
      </p:sp>
      <p:sp>
        <p:nvSpPr>
          <p:cNvPr id="27" name="Text 25"/>
          <p:cNvSpPr/>
          <p:nvPr/>
        </p:nvSpPr>
        <p:spPr>
          <a:xfrm>
            <a:off x="10060186" y="3724771"/>
            <a:ext cx="2570371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Foundry import wizard</a:t>
            </a:r>
            <a:endParaRPr lang="en-US" sz="1584" dirty="0"/>
          </a:p>
        </p:txBody>
      </p:sp>
      <p:sp>
        <p:nvSpPr>
          <p:cNvPr id="28" name="Shape 26"/>
          <p:cNvSpPr/>
          <p:nvPr/>
        </p:nvSpPr>
        <p:spPr>
          <a:xfrm>
            <a:off x="12616260" y="4526359"/>
            <a:ext cx="246499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29" name="Text 27"/>
          <p:cNvSpPr/>
          <p:nvPr/>
        </p:nvSpPr>
        <p:spPr>
          <a:xfrm>
            <a:off x="12835716" y="3304830"/>
            <a:ext cx="2102279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PaaS</a:t>
            </a:r>
            <a:endParaRPr lang="en-US" sz="1901" dirty="0"/>
          </a:p>
        </p:txBody>
      </p:sp>
      <p:sp>
        <p:nvSpPr>
          <p:cNvPr id="30" name="Shape 28"/>
          <p:cNvSpPr/>
          <p:nvPr/>
        </p:nvSpPr>
        <p:spPr>
          <a:xfrm>
            <a:off x="15081250" y="4526359"/>
            <a:ext cx="210949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31" name="Text 29"/>
          <p:cNvSpPr/>
          <p:nvPr/>
        </p:nvSpPr>
        <p:spPr>
          <a:xfrm>
            <a:off x="15300706" y="3304830"/>
            <a:ext cx="1746778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901" dirty="0"/>
          </a:p>
        </p:txBody>
      </p:sp>
      <p:sp>
        <p:nvSpPr>
          <p:cNvPr id="32" name="Shape 30"/>
          <p:cNvSpPr/>
          <p:nvPr/>
        </p:nvSpPr>
        <p:spPr>
          <a:xfrm>
            <a:off x="1097260" y="5955407"/>
            <a:ext cx="269418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33" name="Text 31"/>
          <p:cNvSpPr/>
          <p:nvPr/>
        </p:nvSpPr>
        <p:spPr>
          <a:xfrm>
            <a:off x="1316716" y="4733877"/>
            <a:ext cx="2336100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3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</a:t>
            </a:r>
            <a:endParaRPr lang="en-US" sz="2016" dirty="0"/>
          </a:p>
        </p:txBody>
      </p:sp>
      <p:sp>
        <p:nvSpPr>
          <p:cNvPr id="34" name="Shape 32"/>
          <p:cNvSpPr/>
          <p:nvPr/>
        </p:nvSpPr>
        <p:spPr>
          <a:xfrm>
            <a:off x="3791446" y="5955407"/>
            <a:ext cx="3082727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35" name="Text 33"/>
          <p:cNvSpPr/>
          <p:nvPr/>
        </p:nvSpPr>
        <p:spPr>
          <a:xfrm>
            <a:off x="4010819" y="4781451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36" name="Text 34"/>
          <p:cNvSpPr/>
          <p:nvPr/>
        </p:nvSpPr>
        <p:spPr>
          <a:xfrm>
            <a:off x="4010819" y="5153819"/>
            <a:ext cx="290837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+ JWT + group sync</a:t>
            </a:r>
            <a:endParaRPr lang="en-US" sz="1584" dirty="0"/>
          </a:p>
        </p:txBody>
      </p:sp>
      <p:sp>
        <p:nvSpPr>
          <p:cNvPr id="37" name="Shape 35"/>
          <p:cNvSpPr/>
          <p:nvPr/>
        </p:nvSpPr>
        <p:spPr>
          <a:xfrm>
            <a:off x="6874173" y="5955407"/>
            <a:ext cx="296664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38" name="Text 36"/>
          <p:cNvSpPr/>
          <p:nvPr/>
        </p:nvSpPr>
        <p:spPr>
          <a:xfrm>
            <a:off x="7093546" y="4781451"/>
            <a:ext cx="18806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Documented</a:t>
            </a:r>
            <a:endParaRPr lang="en-US" sz="1901" dirty="0"/>
          </a:p>
        </p:txBody>
      </p:sp>
      <p:sp>
        <p:nvSpPr>
          <p:cNvPr id="39" name="Text 37"/>
          <p:cNvSpPr/>
          <p:nvPr/>
        </p:nvSpPr>
        <p:spPr>
          <a:xfrm>
            <a:off x="7093546" y="5153819"/>
            <a:ext cx="278068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Code / BYOK base URL</a:t>
            </a:r>
            <a:endParaRPr lang="en-US" sz="1584" dirty="0"/>
          </a:p>
        </p:txBody>
      </p:sp>
      <p:sp>
        <p:nvSpPr>
          <p:cNvPr id="40" name="Shape 38"/>
          <p:cNvSpPr/>
          <p:nvPr/>
        </p:nvSpPr>
        <p:spPr>
          <a:xfrm>
            <a:off x="9840813" y="5955407"/>
            <a:ext cx="277544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41" name="Text 39"/>
          <p:cNvSpPr/>
          <p:nvPr/>
        </p:nvSpPr>
        <p:spPr>
          <a:xfrm>
            <a:off x="10060186" y="4781451"/>
            <a:ext cx="10485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</a:t>
            </a:r>
            <a:endParaRPr lang="en-US" sz="1901" dirty="0"/>
          </a:p>
        </p:txBody>
      </p:sp>
      <p:sp>
        <p:nvSpPr>
          <p:cNvPr id="42" name="Text 40"/>
          <p:cNvSpPr/>
          <p:nvPr/>
        </p:nvSpPr>
        <p:spPr>
          <a:xfrm>
            <a:off x="10060186" y="5153819"/>
            <a:ext cx="2412901" cy="64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azure/ &amp; azure_ai/ providers</a:t>
            </a:r>
            <a:endParaRPr lang="en-US" sz="1584" dirty="0"/>
          </a:p>
        </p:txBody>
      </p:sp>
      <p:sp>
        <p:nvSpPr>
          <p:cNvPr id="43" name="Shape 41"/>
          <p:cNvSpPr/>
          <p:nvPr/>
        </p:nvSpPr>
        <p:spPr>
          <a:xfrm>
            <a:off x="12616260" y="5955407"/>
            <a:ext cx="246499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44" name="Text 42"/>
          <p:cNvSpPr/>
          <p:nvPr/>
        </p:nvSpPr>
        <p:spPr>
          <a:xfrm>
            <a:off x="12835716" y="4733877"/>
            <a:ext cx="2102279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</a:t>
            </a:r>
            <a:endParaRPr lang="en-US" sz="1901" dirty="0"/>
          </a:p>
        </p:txBody>
      </p:sp>
      <p:sp>
        <p:nvSpPr>
          <p:cNvPr id="45" name="Shape 43"/>
          <p:cNvSpPr/>
          <p:nvPr/>
        </p:nvSpPr>
        <p:spPr>
          <a:xfrm>
            <a:off x="15081250" y="5955407"/>
            <a:ext cx="210949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46" name="Text 44"/>
          <p:cNvSpPr/>
          <p:nvPr/>
        </p:nvSpPr>
        <p:spPr>
          <a:xfrm>
            <a:off x="15300706" y="4733877"/>
            <a:ext cx="1746778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+ enterprise</a:t>
            </a:r>
            <a:endParaRPr lang="en-US" sz="1901" dirty="0"/>
          </a:p>
        </p:txBody>
      </p:sp>
      <p:sp>
        <p:nvSpPr>
          <p:cNvPr id="47" name="Shape 45"/>
          <p:cNvSpPr/>
          <p:nvPr/>
        </p:nvSpPr>
        <p:spPr>
          <a:xfrm>
            <a:off x="1097260" y="7384455"/>
            <a:ext cx="269418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48" name="Text 46"/>
          <p:cNvSpPr/>
          <p:nvPr/>
        </p:nvSpPr>
        <p:spPr>
          <a:xfrm>
            <a:off x="1316716" y="6162925"/>
            <a:ext cx="2336100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3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Portkey</a:t>
            </a:r>
            <a:endParaRPr lang="en-US" sz="2016" dirty="0"/>
          </a:p>
        </p:txBody>
      </p:sp>
      <p:sp>
        <p:nvSpPr>
          <p:cNvPr id="49" name="Shape 47"/>
          <p:cNvSpPr/>
          <p:nvPr/>
        </p:nvSpPr>
        <p:spPr>
          <a:xfrm>
            <a:off x="3791446" y="7384455"/>
            <a:ext cx="3082727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0" name="Text 48"/>
          <p:cNvSpPr/>
          <p:nvPr/>
        </p:nvSpPr>
        <p:spPr>
          <a:xfrm>
            <a:off x="4010819" y="6210499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51" name="Text 49"/>
          <p:cNvSpPr/>
          <p:nvPr/>
        </p:nvSpPr>
        <p:spPr>
          <a:xfrm>
            <a:off x="4010819" y="6582867"/>
            <a:ext cx="2723301" cy="64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 + SCIM + JWT (enterprise)</a:t>
            </a:r>
            <a:endParaRPr lang="en-US" sz="1584" dirty="0"/>
          </a:p>
        </p:txBody>
      </p:sp>
      <p:sp>
        <p:nvSpPr>
          <p:cNvPr id="52" name="Shape 50"/>
          <p:cNvSpPr/>
          <p:nvPr/>
        </p:nvSpPr>
        <p:spPr>
          <a:xfrm>
            <a:off x="6874173" y="7384455"/>
            <a:ext cx="296664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3" name="Text 51"/>
          <p:cNvSpPr/>
          <p:nvPr/>
        </p:nvSpPr>
        <p:spPr>
          <a:xfrm>
            <a:off x="7093546" y="6210499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54" name="Text 52"/>
          <p:cNvSpPr/>
          <p:nvPr/>
        </p:nvSpPr>
        <p:spPr>
          <a:xfrm>
            <a:off x="7093546" y="6582867"/>
            <a:ext cx="2604095" cy="64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 endpoint</a:t>
            </a:r>
            <a:endParaRPr lang="en-US" sz="1584" dirty="0"/>
          </a:p>
        </p:txBody>
      </p:sp>
      <p:sp>
        <p:nvSpPr>
          <p:cNvPr id="55" name="Shape 53"/>
          <p:cNvSpPr/>
          <p:nvPr/>
        </p:nvSpPr>
        <p:spPr>
          <a:xfrm>
            <a:off x="9840813" y="7384455"/>
            <a:ext cx="277544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6" name="Text 54"/>
          <p:cNvSpPr/>
          <p:nvPr/>
        </p:nvSpPr>
        <p:spPr>
          <a:xfrm>
            <a:off x="10060186" y="6210499"/>
            <a:ext cx="10485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Native</a:t>
            </a:r>
            <a:endParaRPr lang="en-US" sz="1901" dirty="0"/>
          </a:p>
        </p:txBody>
      </p:sp>
      <p:sp>
        <p:nvSpPr>
          <p:cNvPr id="57" name="Text 55"/>
          <p:cNvSpPr/>
          <p:nvPr/>
        </p:nvSpPr>
        <p:spPr>
          <a:xfrm>
            <a:off x="10060186" y="6582867"/>
            <a:ext cx="2570371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Marketplace deploy</a:t>
            </a:r>
            <a:endParaRPr lang="en-US" sz="1584" dirty="0"/>
          </a:p>
        </p:txBody>
      </p:sp>
      <p:sp>
        <p:nvSpPr>
          <p:cNvPr id="58" name="Shape 56"/>
          <p:cNvSpPr/>
          <p:nvPr/>
        </p:nvSpPr>
        <p:spPr>
          <a:xfrm>
            <a:off x="12616260" y="7384455"/>
            <a:ext cx="246499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59" name="Text 57"/>
          <p:cNvSpPr/>
          <p:nvPr/>
        </p:nvSpPr>
        <p:spPr>
          <a:xfrm>
            <a:off x="12835716" y="6162925"/>
            <a:ext cx="2102279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/ self-hosted</a:t>
            </a:r>
            <a:endParaRPr lang="en-US" sz="1901" dirty="0"/>
          </a:p>
        </p:txBody>
      </p:sp>
      <p:sp>
        <p:nvSpPr>
          <p:cNvPr id="60" name="Shape 58"/>
          <p:cNvSpPr/>
          <p:nvPr/>
        </p:nvSpPr>
        <p:spPr>
          <a:xfrm>
            <a:off x="15081250" y="7384455"/>
            <a:ext cx="210949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61" name="Text 59"/>
          <p:cNvSpPr/>
          <p:nvPr/>
        </p:nvSpPr>
        <p:spPr>
          <a:xfrm>
            <a:off x="15300706" y="6162925"/>
            <a:ext cx="1746778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 + ent.</a:t>
            </a:r>
            <a:endParaRPr lang="en-US" sz="1901" dirty="0"/>
          </a:p>
        </p:txBody>
      </p:sp>
      <p:sp>
        <p:nvSpPr>
          <p:cNvPr id="62" name="Shape 60"/>
          <p:cNvSpPr/>
          <p:nvPr/>
        </p:nvSpPr>
        <p:spPr>
          <a:xfrm>
            <a:off x="1097260" y="8813502"/>
            <a:ext cx="269418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63" name="Text 61"/>
          <p:cNvSpPr/>
          <p:nvPr/>
        </p:nvSpPr>
        <p:spPr>
          <a:xfrm>
            <a:off x="1316716" y="7591973"/>
            <a:ext cx="2336100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3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 AI Gateway</a:t>
            </a:r>
            <a:endParaRPr lang="en-US" sz="2016" dirty="0"/>
          </a:p>
        </p:txBody>
      </p:sp>
      <p:sp>
        <p:nvSpPr>
          <p:cNvPr id="64" name="Shape 62"/>
          <p:cNvSpPr/>
          <p:nvPr/>
        </p:nvSpPr>
        <p:spPr>
          <a:xfrm>
            <a:off x="3791446" y="8813502"/>
            <a:ext cx="3082727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65" name="Text 63"/>
          <p:cNvSpPr/>
          <p:nvPr/>
        </p:nvSpPr>
        <p:spPr>
          <a:xfrm>
            <a:off x="4010819" y="7639546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66" name="Text 64"/>
          <p:cNvSpPr/>
          <p:nvPr/>
        </p:nvSpPr>
        <p:spPr>
          <a:xfrm>
            <a:off x="4010819" y="8011914"/>
            <a:ext cx="290837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plugin, Entra config</a:t>
            </a:r>
            <a:endParaRPr lang="en-US" sz="1584" dirty="0"/>
          </a:p>
        </p:txBody>
      </p:sp>
      <p:sp>
        <p:nvSpPr>
          <p:cNvPr id="67" name="Shape 65"/>
          <p:cNvSpPr/>
          <p:nvPr/>
        </p:nvSpPr>
        <p:spPr>
          <a:xfrm>
            <a:off x="6874173" y="8813502"/>
            <a:ext cx="296664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68" name="Text 66"/>
          <p:cNvSpPr/>
          <p:nvPr/>
        </p:nvSpPr>
        <p:spPr>
          <a:xfrm>
            <a:off x="7093546" y="7639546"/>
            <a:ext cx="11422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Official</a:t>
            </a:r>
            <a:endParaRPr lang="en-US" sz="1901" dirty="0"/>
          </a:p>
        </p:txBody>
      </p:sp>
      <p:sp>
        <p:nvSpPr>
          <p:cNvPr id="69" name="Text 67"/>
          <p:cNvSpPr/>
          <p:nvPr/>
        </p:nvSpPr>
        <p:spPr>
          <a:xfrm>
            <a:off x="7093546" y="8011914"/>
            <a:ext cx="278068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BYOK cookbook</a:t>
            </a:r>
            <a:endParaRPr lang="en-US" sz="1584" dirty="0"/>
          </a:p>
        </p:txBody>
      </p:sp>
      <p:sp>
        <p:nvSpPr>
          <p:cNvPr id="70" name="Shape 68"/>
          <p:cNvSpPr/>
          <p:nvPr/>
        </p:nvSpPr>
        <p:spPr>
          <a:xfrm>
            <a:off x="9840813" y="8813502"/>
            <a:ext cx="277544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71" name="Text 69"/>
          <p:cNvSpPr/>
          <p:nvPr/>
        </p:nvSpPr>
        <p:spPr>
          <a:xfrm>
            <a:off x="10060186" y="7639546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72" name="Text 70"/>
          <p:cNvSpPr/>
          <p:nvPr/>
        </p:nvSpPr>
        <p:spPr>
          <a:xfrm>
            <a:off x="10060186" y="8011914"/>
            <a:ext cx="2412901" cy="64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provider + managed identity</a:t>
            </a:r>
            <a:endParaRPr lang="en-US" sz="1584" dirty="0"/>
          </a:p>
        </p:txBody>
      </p:sp>
      <p:sp>
        <p:nvSpPr>
          <p:cNvPr id="73" name="Shape 71"/>
          <p:cNvSpPr/>
          <p:nvPr/>
        </p:nvSpPr>
        <p:spPr>
          <a:xfrm>
            <a:off x="12616260" y="8813502"/>
            <a:ext cx="246499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74" name="Text 72"/>
          <p:cNvSpPr/>
          <p:nvPr/>
        </p:nvSpPr>
        <p:spPr>
          <a:xfrm>
            <a:off x="12835716" y="7591973"/>
            <a:ext cx="2102279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/ Konnect</a:t>
            </a:r>
            <a:endParaRPr lang="en-US" sz="1901" dirty="0"/>
          </a:p>
        </p:txBody>
      </p:sp>
      <p:sp>
        <p:nvSpPr>
          <p:cNvPr id="75" name="Shape 73"/>
          <p:cNvSpPr/>
          <p:nvPr/>
        </p:nvSpPr>
        <p:spPr>
          <a:xfrm>
            <a:off x="15081250" y="8813502"/>
            <a:ext cx="210949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76" name="Text 74"/>
          <p:cNvSpPr/>
          <p:nvPr/>
        </p:nvSpPr>
        <p:spPr>
          <a:xfrm>
            <a:off x="15300706" y="7591973"/>
            <a:ext cx="1746778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OSS + enterprise</a:t>
            </a:r>
            <a:endParaRPr lang="en-US" sz="1901" dirty="0"/>
          </a:p>
        </p:txBody>
      </p:sp>
      <p:sp>
        <p:nvSpPr>
          <p:cNvPr id="77" name="Shape 75"/>
          <p:cNvSpPr/>
          <p:nvPr/>
        </p:nvSpPr>
        <p:spPr>
          <a:xfrm>
            <a:off x="1097260" y="10242550"/>
            <a:ext cx="269418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78" name="Text 76"/>
          <p:cNvSpPr/>
          <p:nvPr/>
        </p:nvSpPr>
        <p:spPr>
          <a:xfrm>
            <a:off x="1316716" y="9021020"/>
            <a:ext cx="2336100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3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TrueFoundry</a:t>
            </a:r>
            <a:endParaRPr lang="en-US" sz="2016" dirty="0"/>
          </a:p>
        </p:txBody>
      </p:sp>
      <p:sp>
        <p:nvSpPr>
          <p:cNvPr id="79" name="Shape 77"/>
          <p:cNvSpPr/>
          <p:nvPr/>
        </p:nvSpPr>
        <p:spPr>
          <a:xfrm>
            <a:off x="3791446" y="10242550"/>
            <a:ext cx="3082727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80" name="Text 78"/>
          <p:cNvSpPr/>
          <p:nvPr/>
        </p:nvSpPr>
        <p:spPr>
          <a:xfrm>
            <a:off x="4010819" y="9068594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81" name="Text 79"/>
          <p:cNvSpPr/>
          <p:nvPr/>
        </p:nvSpPr>
        <p:spPr>
          <a:xfrm>
            <a:off x="4010819" y="9440962"/>
            <a:ext cx="290837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OIDC/SAML + Workload ID</a:t>
            </a:r>
            <a:endParaRPr lang="en-US" sz="1584" dirty="0"/>
          </a:p>
        </p:txBody>
      </p:sp>
      <p:sp>
        <p:nvSpPr>
          <p:cNvPr id="82" name="Shape 80"/>
          <p:cNvSpPr/>
          <p:nvPr/>
        </p:nvSpPr>
        <p:spPr>
          <a:xfrm>
            <a:off x="6874173" y="10242550"/>
            <a:ext cx="296664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83" name="Text 81"/>
          <p:cNvSpPr/>
          <p:nvPr/>
        </p:nvSpPr>
        <p:spPr>
          <a:xfrm>
            <a:off x="7093546" y="9068594"/>
            <a:ext cx="11422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Official</a:t>
            </a:r>
            <a:endParaRPr lang="en-US" sz="1901" dirty="0"/>
          </a:p>
        </p:txBody>
      </p:sp>
      <p:sp>
        <p:nvSpPr>
          <p:cNvPr id="84" name="Text 82"/>
          <p:cNvSpPr/>
          <p:nvPr/>
        </p:nvSpPr>
        <p:spPr>
          <a:xfrm>
            <a:off x="7093546" y="9440962"/>
            <a:ext cx="2780685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First-party Copilot docs</a:t>
            </a:r>
            <a:endParaRPr lang="en-US" sz="1584" dirty="0"/>
          </a:p>
        </p:txBody>
      </p:sp>
      <p:sp>
        <p:nvSpPr>
          <p:cNvPr id="85" name="Shape 83"/>
          <p:cNvSpPr/>
          <p:nvPr/>
        </p:nvSpPr>
        <p:spPr>
          <a:xfrm>
            <a:off x="9840813" y="10242550"/>
            <a:ext cx="277544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86" name="Text 84"/>
          <p:cNvSpPr/>
          <p:nvPr/>
        </p:nvSpPr>
        <p:spPr>
          <a:xfrm>
            <a:off x="10060186" y="9068594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87" name="Text 85"/>
          <p:cNvSpPr/>
          <p:nvPr/>
        </p:nvSpPr>
        <p:spPr>
          <a:xfrm>
            <a:off x="10060186" y="9440962"/>
            <a:ext cx="2412901" cy="64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over MS backbone</a:t>
            </a:r>
            <a:endParaRPr lang="en-US" sz="1584" dirty="0"/>
          </a:p>
        </p:txBody>
      </p:sp>
      <p:sp>
        <p:nvSpPr>
          <p:cNvPr id="88" name="Shape 86"/>
          <p:cNvSpPr/>
          <p:nvPr/>
        </p:nvSpPr>
        <p:spPr>
          <a:xfrm>
            <a:off x="12616260" y="10242550"/>
            <a:ext cx="246499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89" name="Text 87"/>
          <p:cNvSpPr/>
          <p:nvPr/>
        </p:nvSpPr>
        <p:spPr>
          <a:xfrm>
            <a:off x="12835716" y="9021020"/>
            <a:ext cx="2102279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 (K8s)</a:t>
            </a:r>
            <a:endParaRPr lang="en-US" sz="1901" dirty="0"/>
          </a:p>
        </p:txBody>
      </p:sp>
      <p:sp>
        <p:nvSpPr>
          <p:cNvPr id="90" name="Shape 88"/>
          <p:cNvSpPr/>
          <p:nvPr/>
        </p:nvSpPr>
        <p:spPr>
          <a:xfrm>
            <a:off x="15081250" y="10242550"/>
            <a:ext cx="210949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91" name="Text 89"/>
          <p:cNvSpPr/>
          <p:nvPr/>
        </p:nvSpPr>
        <p:spPr>
          <a:xfrm>
            <a:off x="15300706" y="9021020"/>
            <a:ext cx="1746778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</a:t>
            </a:r>
            <a:endParaRPr lang="en-US" sz="1901" dirty="0"/>
          </a:p>
        </p:txBody>
      </p:sp>
      <p:sp>
        <p:nvSpPr>
          <p:cNvPr id="92" name="Shape 90"/>
          <p:cNvSpPr/>
          <p:nvPr/>
        </p:nvSpPr>
        <p:spPr>
          <a:xfrm>
            <a:off x="1097260" y="11671598"/>
            <a:ext cx="269418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93" name="Text 91"/>
          <p:cNvSpPr/>
          <p:nvPr/>
        </p:nvSpPr>
        <p:spPr>
          <a:xfrm>
            <a:off x="1316716" y="10450068"/>
            <a:ext cx="2336100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3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Bifrost (Maxim)</a:t>
            </a:r>
            <a:endParaRPr lang="en-US" sz="2016" dirty="0"/>
          </a:p>
        </p:txBody>
      </p:sp>
      <p:sp>
        <p:nvSpPr>
          <p:cNvPr id="94" name="Shape 92"/>
          <p:cNvSpPr/>
          <p:nvPr/>
        </p:nvSpPr>
        <p:spPr>
          <a:xfrm>
            <a:off x="3791446" y="11671598"/>
            <a:ext cx="3082727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95" name="Text 93"/>
          <p:cNvSpPr/>
          <p:nvPr/>
        </p:nvSpPr>
        <p:spPr>
          <a:xfrm>
            <a:off x="4010819" y="10497642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96" name="Text 94"/>
          <p:cNvSpPr/>
          <p:nvPr/>
        </p:nvSpPr>
        <p:spPr>
          <a:xfrm>
            <a:off x="4010819" y="10870010"/>
            <a:ext cx="2908379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incl. Entra; SAML ent.</a:t>
            </a:r>
            <a:endParaRPr lang="en-US" sz="1584" dirty="0"/>
          </a:p>
        </p:txBody>
      </p:sp>
      <p:sp>
        <p:nvSpPr>
          <p:cNvPr id="97" name="Shape 95"/>
          <p:cNvSpPr/>
          <p:nvPr/>
        </p:nvSpPr>
        <p:spPr>
          <a:xfrm>
            <a:off x="6874173" y="11671598"/>
            <a:ext cx="296664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98" name="Text 96"/>
          <p:cNvSpPr/>
          <p:nvPr/>
        </p:nvSpPr>
        <p:spPr>
          <a:xfrm>
            <a:off x="7093546" y="10497642"/>
            <a:ext cx="1248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◕ Generic</a:t>
            </a:r>
            <a:endParaRPr lang="en-US" sz="1901" dirty="0"/>
          </a:p>
        </p:txBody>
      </p:sp>
      <p:sp>
        <p:nvSpPr>
          <p:cNvPr id="99" name="Text 97"/>
          <p:cNvSpPr/>
          <p:nvPr/>
        </p:nvSpPr>
        <p:spPr>
          <a:xfrm>
            <a:off x="7093546" y="10870010"/>
            <a:ext cx="2604095" cy="64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OpenAI-compatible; undocumented</a:t>
            </a:r>
            <a:endParaRPr lang="en-US" sz="1584" dirty="0"/>
          </a:p>
        </p:txBody>
      </p:sp>
      <p:sp>
        <p:nvSpPr>
          <p:cNvPr id="100" name="Shape 98"/>
          <p:cNvSpPr/>
          <p:nvPr/>
        </p:nvSpPr>
        <p:spPr>
          <a:xfrm>
            <a:off x="9840813" y="11671598"/>
            <a:ext cx="277544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01" name="Text 99"/>
          <p:cNvSpPr/>
          <p:nvPr/>
        </p:nvSpPr>
        <p:spPr>
          <a:xfrm>
            <a:off x="10060186" y="10497642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102" name="Text 100"/>
          <p:cNvSpPr/>
          <p:nvPr/>
        </p:nvSpPr>
        <p:spPr>
          <a:xfrm>
            <a:off x="10060186" y="10870010"/>
            <a:ext cx="2570371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provider</a:t>
            </a:r>
            <a:endParaRPr lang="en-US" sz="1584" dirty="0"/>
          </a:p>
        </p:txBody>
      </p:sp>
      <p:sp>
        <p:nvSpPr>
          <p:cNvPr id="103" name="Shape 101"/>
          <p:cNvSpPr/>
          <p:nvPr/>
        </p:nvSpPr>
        <p:spPr>
          <a:xfrm>
            <a:off x="12616260" y="11671598"/>
            <a:ext cx="246499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04" name="Text 102"/>
          <p:cNvSpPr/>
          <p:nvPr/>
        </p:nvSpPr>
        <p:spPr>
          <a:xfrm>
            <a:off x="12835716" y="10450068"/>
            <a:ext cx="2102279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Self-hosted</a:t>
            </a:r>
            <a:endParaRPr lang="en-US" sz="1901" dirty="0"/>
          </a:p>
        </p:txBody>
      </p:sp>
      <p:sp>
        <p:nvSpPr>
          <p:cNvPr id="105" name="Shape 103"/>
          <p:cNvSpPr/>
          <p:nvPr/>
        </p:nvSpPr>
        <p:spPr>
          <a:xfrm>
            <a:off x="15081250" y="11671598"/>
            <a:ext cx="210949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06" name="Text 104"/>
          <p:cNvSpPr/>
          <p:nvPr/>
        </p:nvSpPr>
        <p:spPr>
          <a:xfrm>
            <a:off x="15300706" y="10450068"/>
            <a:ext cx="1746778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2.0 + ent.</a:t>
            </a:r>
            <a:endParaRPr lang="en-US" sz="1901" dirty="0"/>
          </a:p>
        </p:txBody>
      </p:sp>
      <p:sp>
        <p:nvSpPr>
          <p:cNvPr id="107" name="Shape 105"/>
          <p:cNvSpPr/>
          <p:nvPr/>
        </p:nvSpPr>
        <p:spPr>
          <a:xfrm>
            <a:off x="1097260" y="13100645"/>
            <a:ext cx="269418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08" name="Text 106"/>
          <p:cNvSpPr/>
          <p:nvPr/>
        </p:nvSpPr>
        <p:spPr>
          <a:xfrm>
            <a:off x="1316716" y="11879116"/>
            <a:ext cx="2336100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3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AI Gateway</a:t>
            </a:r>
            <a:endParaRPr lang="en-US" sz="2016" dirty="0"/>
          </a:p>
        </p:txBody>
      </p:sp>
      <p:sp>
        <p:nvSpPr>
          <p:cNvPr id="109" name="Shape 107"/>
          <p:cNvSpPr/>
          <p:nvPr/>
        </p:nvSpPr>
        <p:spPr>
          <a:xfrm>
            <a:off x="3791446" y="13100645"/>
            <a:ext cx="3082727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10" name="Text 108"/>
          <p:cNvSpPr/>
          <p:nvPr/>
        </p:nvSpPr>
        <p:spPr>
          <a:xfrm>
            <a:off x="4010819" y="11926689"/>
            <a:ext cx="10876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◕ Partial</a:t>
            </a:r>
            <a:endParaRPr lang="en-US" sz="1901" dirty="0"/>
          </a:p>
        </p:txBody>
      </p:sp>
      <p:sp>
        <p:nvSpPr>
          <p:cNvPr id="111" name="Text 109"/>
          <p:cNvSpPr/>
          <p:nvPr/>
        </p:nvSpPr>
        <p:spPr>
          <a:xfrm>
            <a:off x="4010819" y="12299057"/>
            <a:ext cx="2723301" cy="64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token header; Entra via CF Access</a:t>
            </a:r>
            <a:endParaRPr lang="en-US" sz="1584" dirty="0"/>
          </a:p>
        </p:txBody>
      </p:sp>
      <p:sp>
        <p:nvSpPr>
          <p:cNvPr id="112" name="Shape 110"/>
          <p:cNvSpPr/>
          <p:nvPr/>
        </p:nvSpPr>
        <p:spPr>
          <a:xfrm>
            <a:off x="6874173" y="13100645"/>
            <a:ext cx="296664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13" name="Text 111"/>
          <p:cNvSpPr/>
          <p:nvPr/>
        </p:nvSpPr>
        <p:spPr>
          <a:xfrm>
            <a:off x="7093546" y="11926689"/>
            <a:ext cx="12486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◕ Generic</a:t>
            </a:r>
            <a:endParaRPr lang="en-US" sz="1901" dirty="0"/>
          </a:p>
        </p:txBody>
      </p:sp>
      <p:sp>
        <p:nvSpPr>
          <p:cNvPr id="114" name="Text 112"/>
          <p:cNvSpPr/>
          <p:nvPr/>
        </p:nvSpPr>
        <p:spPr>
          <a:xfrm>
            <a:off x="7093546" y="12299057"/>
            <a:ext cx="2604095" cy="6417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OpenAI-compatible API</a:t>
            </a:r>
            <a:endParaRPr lang="en-US" sz="1584" dirty="0"/>
          </a:p>
        </p:txBody>
      </p:sp>
      <p:sp>
        <p:nvSpPr>
          <p:cNvPr id="115" name="Shape 113"/>
          <p:cNvSpPr/>
          <p:nvPr/>
        </p:nvSpPr>
        <p:spPr>
          <a:xfrm>
            <a:off x="9840813" y="13100645"/>
            <a:ext cx="2775446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16" name="Text 114"/>
          <p:cNvSpPr/>
          <p:nvPr/>
        </p:nvSpPr>
        <p:spPr>
          <a:xfrm>
            <a:off x="10060186" y="11926689"/>
            <a:ext cx="73590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Yes</a:t>
            </a:r>
            <a:endParaRPr lang="en-US" sz="1901" dirty="0"/>
          </a:p>
        </p:txBody>
      </p:sp>
      <p:sp>
        <p:nvSpPr>
          <p:cNvPr id="117" name="Text 115"/>
          <p:cNvSpPr/>
          <p:nvPr/>
        </p:nvSpPr>
        <p:spPr>
          <a:xfrm>
            <a:off x="10060186" y="12299057"/>
            <a:ext cx="2570371" cy="33992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432"/>
              </a:lnSpc>
              <a:buNone/>
            </a:pPr>
            <a:r>
              <a:rPr lang="en-US" sz="158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OpenAI provider</a:t>
            </a:r>
            <a:endParaRPr lang="en-US" sz="1584" dirty="0"/>
          </a:p>
        </p:txBody>
      </p:sp>
      <p:sp>
        <p:nvSpPr>
          <p:cNvPr id="118" name="Shape 116"/>
          <p:cNvSpPr/>
          <p:nvPr/>
        </p:nvSpPr>
        <p:spPr>
          <a:xfrm>
            <a:off x="12616260" y="13100645"/>
            <a:ext cx="2464991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19" name="Text 117"/>
          <p:cNvSpPr/>
          <p:nvPr/>
        </p:nvSpPr>
        <p:spPr>
          <a:xfrm>
            <a:off x="12835716" y="11879116"/>
            <a:ext cx="2102279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SaaS</a:t>
            </a:r>
            <a:endParaRPr lang="en-US" sz="1901" dirty="0"/>
          </a:p>
        </p:txBody>
      </p:sp>
      <p:sp>
        <p:nvSpPr>
          <p:cNvPr id="120" name="Shape 118"/>
          <p:cNvSpPr/>
          <p:nvPr/>
        </p:nvSpPr>
        <p:spPr>
          <a:xfrm>
            <a:off x="15081250" y="13100645"/>
            <a:ext cx="2109490" cy="9525"/>
          </a:xfrm>
          <a:prstGeom prst="rect">
            <a:avLst/>
          </a:prstGeom>
          <a:solidFill>
            <a:srgbClr val="E4E7EB"/>
          </a:solidFill>
          <a:ln/>
        </p:spPr>
      </p:sp>
      <p:sp>
        <p:nvSpPr>
          <p:cNvPr id="121" name="Text 119"/>
          <p:cNvSpPr/>
          <p:nvPr/>
        </p:nvSpPr>
        <p:spPr>
          <a:xfrm>
            <a:off x="15300706" y="11879116"/>
            <a:ext cx="1746778" cy="10584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614"/>
              </a:lnSpc>
              <a:buNone/>
            </a:pPr>
            <a:r>
              <a:rPr lang="en-US" sz="190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</a:t>
            </a:r>
            <a:endParaRPr lang="en-US" sz="1901" dirty="0"/>
          </a:p>
        </p:txBody>
      </p:sp>
      <p:sp>
        <p:nvSpPr>
          <p:cNvPr id="122" name="Text 120"/>
          <p:cNvSpPr/>
          <p:nvPr/>
        </p:nvSpPr>
        <p:spPr>
          <a:xfrm>
            <a:off x="1097260" y="13475891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123" name="Text 121"/>
          <p:cNvSpPr/>
          <p:nvPr/>
        </p:nvSpPr>
        <p:spPr>
          <a:xfrm>
            <a:off x="16905883" y="13475891"/>
            <a:ext cx="361057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1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7702829" cy="8792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364"/>
              </a:lnSpc>
              <a:buNone/>
            </a:pPr>
            <a:r>
              <a:rPr lang="en-US" sz="5760" b="1" spc="-115" kern="0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5760" dirty="0"/>
          </a:p>
        </p:txBody>
      </p:sp>
      <p:sp>
        <p:nvSpPr>
          <p:cNvPr id="5" name="Text 3"/>
          <p:cNvSpPr/>
          <p:nvPr/>
        </p:nvSpPr>
        <p:spPr>
          <a:xfrm>
            <a:off x="1097260" y="2790527"/>
            <a:ext cx="15446004" cy="12449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3168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products clear all three requirements. For an Entra-governed, Foundry-hosted, Copilot-consuming estate, the shortlist orders itself:</a:t>
            </a:r>
            <a:endParaRPr lang="en-US" sz="3168" dirty="0"/>
          </a:p>
        </p:txBody>
      </p:sp>
      <p:sp>
        <p:nvSpPr>
          <p:cNvPr id="6" name="Shape 4"/>
          <p:cNvSpPr/>
          <p:nvPr/>
        </p:nvSpPr>
        <p:spPr>
          <a:xfrm>
            <a:off x="1097260" y="4290020"/>
            <a:ext cx="3831332" cy="2982317"/>
          </a:xfrm>
          <a:prstGeom prst="roundRect">
            <a:avLst>
              <a:gd name="adj" fmla="val 3833"/>
            </a:avLst>
          </a:prstGeom>
          <a:solidFill>
            <a:srgbClr val="F8F9FA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96206" y="4534099"/>
            <a:ext cx="3556784" cy="257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15"/>
              </a:lnSpc>
              <a:buNone/>
            </a:pPr>
            <a:r>
              <a:rPr lang="en-US" sz="1728" b="1" spc="86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PRIMARY</a:t>
            </a:r>
            <a:endParaRPr lang="en-US" sz="1728" dirty="0"/>
          </a:p>
        </p:txBody>
      </p:sp>
      <p:sp>
        <p:nvSpPr>
          <p:cNvPr id="8" name="Text 6"/>
          <p:cNvSpPr/>
          <p:nvPr/>
        </p:nvSpPr>
        <p:spPr>
          <a:xfrm>
            <a:off x="1396206" y="4844951"/>
            <a:ext cx="3556784" cy="406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64"/>
              </a:lnSpc>
              <a:buNone/>
            </a:pPr>
            <a:r>
              <a:rPr lang="en-US" sz="2232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APIM AI Gateway</a:t>
            </a:r>
            <a:endParaRPr lang="en-US" sz="2232" dirty="0"/>
          </a:p>
        </p:txBody>
      </p:sp>
      <p:sp>
        <p:nvSpPr>
          <p:cNvPr id="9" name="Text 7"/>
          <p:cNvSpPr/>
          <p:nvPr/>
        </p:nvSpPr>
        <p:spPr>
          <a:xfrm>
            <a:off x="1396206" y="5304830"/>
            <a:ext cx="3330443" cy="17615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51"/>
              </a:lnSpc>
              <a:buNone/>
            </a:pPr>
            <a:r>
              <a:rPr lang="en-US" sz="1872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Azure-native on all three requirements with zero new vendors; it is the engine of Foundry’s own gateway feature.</a:t>
            </a:r>
            <a:endParaRPr lang="en-US" sz="1872" dirty="0"/>
          </a:p>
        </p:txBody>
      </p:sp>
      <p:sp>
        <p:nvSpPr>
          <p:cNvPr id="10" name="Shape 8"/>
          <p:cNvSpPr/>
          <p:nvPr/>
        </p:nvSpPr>
        <p:spPr>
          <a:xfrm>
            <a:off x="5184577" y="4290020"/>
            <a:ext cx="3831431" cy="2982317"/>
          </a:xfrm>
          <a:prstGeom prst="roundRect">
            <a:avLst>
              <a:gd name="adj" fmla="val 3833"/>
            </a:avLst>
          </a:prstGeom>
          <a:solidFill>
            <a:srgbClr val="F8F9FA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3523" y="4534099"/>
            <a:ext cx="3330545" cy="477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15"/>
              </a:lnSpc>
              <a:buNone/>
            </a:pPr>
            <a:r>
              <a:rPr lang="en-US" sz="1728" b="1" spc="86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IF OSS CONTROL MATTERS</a:t>
            </a:r>
            <a:endParaRPr lang="en-US" sz="1728" dirty="0"/>
          </a:p>
        </p:txBody>
      </p:sp>
      <p:sp>
        <p:nvSpPr>
          <p:cNvPr id="12" name="Text 10"/>
          <p:cNvSpPr/>
          <p:nvPr/>
        </p:nvSpPr>
        <p:spPr>
          <a:xfrm>
            <a:off x="5483523" y="5064423"/>
            <a:ext cx="3556893" cy="406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64"/>
              </a:lnSpc>
              <a:buNone/>
            </a:pPr>
            <a:r>
              <a:rPr lang="en-US" sz="2232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LiteLLM</a:t>
            </a:r>
            <a:endParaRPr lang="en-US" sz="2232" dirty="0"/>
          </a:p>
        </p:txBody>
      </p:sp>
      <p:sp>
        <p:nvSpPr>
          <p:cNvPr id="13" name="Text 11"/>
          <p:cNvSpPr/>
          <p:nvPr/>
        </p:nvSpPr>
        <p:spPr>
          <a:xfrm>
            <a:off x="5483523" y="5524302"/>
            <a:ext cx="3330545" cy="1416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51"/>
              </a:lnSpc>
              <a:buNone/>
            </a:pPr>
            <a:r>
              <a:rPr lang="en-US" sz="1872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Deepest provider coverage and community; Entra SSO, JWT auth and group sync at enterprise tier.</a:t>
            </a:r>
            <a:endParaRPr lang="en-US" sz="1872" dirty="0"/>
          </a:p>
        </p:txBody>
      </p:sp>
      <p:sp>
        <p:nvSpPr>
          <p:cNvPr id="14" name="Shape 12"/>
          <p:cNvSpPr/>
          <p:nvPr/>
        </p:nvSpPr>
        <p:spPr>
          <a:xfrm>
            <a:off x="9271992" y="4290020"/>
            <a:ext cx="3831332" cy="2982317"/>
          </a:xfrm>
          <a:prstGeom prst="roundRect">
            <a:avLst>
              <a:gd name="adj" fmla="val 3833"/>
            </a:avLst>
          </a:prstGeom>
          <a:solidFill>
            <a:srgbClr val="F8F9FA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70938" y="4534099"/>
            <a:ext cx="3330443" cy="4770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15"/>
              </a:lnSpc>
              <a:buNone/>
            </a:pPr>
            <a:r>
              <a:rPr lang="en-US" sz="1728" b="1" spc="86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IF BUYING, NOT BUILDING</a:t>
            </a:r>
            <a:endParaRPr lang="en-US" sz="1728" dirty="0"/>
          </a:p>
        </p:txBody>
      </p:sp>
      <p:sp>
        <p:nvSpPr>
          <p:cNvPr id="16" name="Text 14"/>
          <p:cNvSpPr/>
          <p:nvPr/>
        </p:nvSpPr>
        <p:spPr>
          <a:xfrm>
            <a:off x="9570938" y="5064423"/>
            <a:ext cx="3556784" cy="406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64"/>
              </a:lnSpc>
              <a:buNone/>
            </a:pPr>
            <a:r>
              <a:rPr lang="en-US" sz="2232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Portkey</a:t>
            </a:r>
            <a:endParaRPr lang="en-US" sz="2232" dirty="0"/>
          </a:p>
        </p:txBody>
      </p:sp>
      <p:sp>
        <p:nvSpPr>
          <p:cNvPr id="17" name="Text 15"/>
          <p:cNvSpPr/>
          <p:nvPr/>
        </p:nvSpPr>
        <p:spPr>
          <a:xfrm>
            <a:off x="9570938" y="5524302"/>
            <a:ext cx="3330443" cy="1416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51"/>
              </a:lnSpc>
              <a:buNone/>
            </a:pPr>
            <a:r>
              <a:rPr lang="en-US" sz="1872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managed enterprise story: Azure Marketplace deploy, Entra SSO + SCIM, built-in guardrails.</a:t>
            </a:r>
            <a:endParaRPr lang="en-US" sz="1872" dirty="0"/>
          </a:p>
        </p:txBody>
      </p:sp>
      <p:sp>
        <p:nvSpPr>
          <p:cNvPr id="18" name="Shape 16"/>
          <p:cNvSpPr/>
          <p:nvPr/>
        </p:nvSpPr>
        <p:spPr>
          <a:xfrm>
            <a:off x="13359309" y="4290020"/>
            <a:ext cx="3831431" cy="2982317"/>
          </a:xfrm>
          <a:prstGeom prst="roundRect">
            <a:avLst>
              <a:gd name="adj" fmla="val 3833"/>
            </a:avLst>
          </a:prstGeom>
          <a:solidFill>
            <a:srgbClr val="F8F9FA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658255" y="4534099"/>
            <a:ext cx="3556893" cy="2575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8615"/>
              </a:lnSpc>
              <a:buNone/>
            </a:pPr>
            <a:r>
              <a:rPr lang="en-US" sz="1728" b="1" spc="86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SITUATIONAL</a:t>
            </a:r>
            <a:endParaRPr lang="en-US" sz="1728" dirty="0"/>
          </a:p>
        </p:txBody>
      </p:sp>
      <p:sp>
        <p:nvSpPr>
          <p:cNvPr id="20" name="Text 18"/>
          <p:cNvSpPr/>
          <p:nvPr/>
        </p:nvSpPr>
        <p:spPr>
          <a:xfrm>
            <a:off x="13658255" y="4844951"/>
            <a:ext cx="3556893" cy="4065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64"/>
              </a:lnSpc>
              <a:buNone/>
            </a:pPr>
            <a:r>
              <a:rPr lang="en-US" sz="2232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 / TrueFoundry</a:t>
            </a:r>
            <a:endParaRPr lang="en-US" sz="2232" dirty="0"/>
          </a:p>
        </p:txBody>
      </p:sp>
      <p:sp>
        <p:nvSpPr>
          <p:cNvPr id="21" name="Text 19"/>
          <p:cNvSpPr/>
          <p:nvPr/>
        </p:nvSpPr>
        <p:spPr>
          <a:xfrm>
            <a:off x="13658255" y="5304830"/>
            <a:ext cx="3330545" cy="14168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251"/>
              </a:lnSpc>
              <a:buNone/>
            </a:pPr>
            <a:r>
              <a:rPr lang="en-US" sz="1872" dirty="0">
                <a:solidFill>
                  <a:srgbClr val="4E5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publish official Copilot BYOK docs — first choice where Kong already fronts our APIs, or on AKS.</a:t>
            </a:r>
            <a:endParaRPr lang="en-US" sz="1872" dirty="0"/>
          </a:p>
        </p:txBody>
      </p:sp>
      <p:sp>
        <p:nvSpPr>
          <p:cNvPr id="22" name="Shape 20"/>
          <p:cNvSpPr/>
          <p:nvPr/>
        </p:nvSpPr>
        <p:spPr>
          <a:xfrm>
            <a:off x="1097260" y="7564934"/>
            <a:ext cx="16093480" cy="2411413"/>
          </a:xfrm>
          <a:prstGeom prst="roundRect">
            <a:avLst>
              <a:gd name="adj" fmla="val 4740"/>
            </a:avLst>
          </a:prstGeom>
          <a:solidFill>
            <a:srgbClr val="F8F9FA"/>
          </a:solidFill>
          <a:ln w="6350">
            <a:solidFill>
              <a:srgbClr val="E4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2719" y="7845525"/>
            <a:ext cx="16964820" cy="370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523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pattern, whichever product wins</a:t>
            </a:r>
            <a:endParaRPr lang="en-US" sz="2016" dirty="0"/>
          </a:p>
        </p:txBody>
      </p:sp>
      <p:sp>
        <p:nvSpPr>
          <p:cNvPr id="24" name="Shape 22"/>
          <p:cNvSpPr/>
          <p:nvPr/>
        </p:nvSpPr>
        <p:spPr>
          <a:xfrm>
            <a:off x="1432719" y="8361164"/>
            <a:ext cx="4053780" cy="575866"/>
          </a:xfrm>
          <a:prstGeom prst="roundRect">
            <a:avLst>
              <a:gd name="adj" fmla="val 16540"/>
            </a:avLst>
          </a:prstGeom>
          <a:solidFill>
            <a:srgbClr val="FFFFFF"/>
          </a:solidFill>
          <a:ln w="6350">
            <a:solidFill>
              <a:srgbClr val="CDD2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695101" y="8495530"/>
            <a:ext cx="3650630" cy="34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45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(BYOK) · apps · agents</a:t>
            </a:r>
            <a:endParaRPr lang="en-US" sz="2016" dirty="0"/>
          </a:p>
        </p:txBody>
      </p:sp>
      <p:sp>
        <p:nvSpPr>
          <p:cNvPr id="26" name="Text 24"/>
          <p:cNvSpPr/>
          <p:nvPr/>
        </p:nvSpPr>
        <p:spPr>
          <a:xfrm>
            <a:off x="5669360" y="8429625"/>
            <a:ext cx="368895" cy="476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30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4" dirty="0"/>
          </a:p>
        </p:txBody>
      </p:sp>
      <p:sp>
        <p:nvSpPr>
          <p:cNvPr id="27" name="Shape 25"/>
          <p:cNvSpPr/>
          <p:nvPr/>
        </p:nvSpPr>
        <p:spPr>
          <a:xfrm>
            <a:off x="6144915" y="8361164"/>
            <a:ext cx="2161282" cy="575866"/>
          </a:xfrm>
          <a:prstGeom prst="roundRect">
            <a:avLst>
              <a:gd name="adj" fmla="val 16540"/>
            </a:avLst>
          </a:prstGeom>
          <a:solidFill>
            <a:srgbClr val="FFFFFF"/>
          </a:solidFill>
          <a:ln w="6350">
            <a:solidFill>
              <a:srgbClr val="CDD2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7297" y="8495530"/>
            <a:ext cx="1712718" cy="34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45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ID token</a:t>
            </a:r>
            <a:endParaRPr lang="en-US" sz="2016" dirty="0"/>
          </a:p>
        </p:txBody>
      </p:sp>
      <p:sp>
        <p:nvSpPr>
          <p:cNvPr id="29" name="Text 27"/>
          <p:cNvSpPr/>
          <p:nvPr/>
        </p:nvSpPr>
        <p:spPr>
          <a:xfrm>
            <a:off x="8489057" y="8429625"/>
            <a:ext cx="368895" cy="476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30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4" dirty="0"/>
          </a:p>
        </p:txBody>
      </p:sp>
      <p:sp>
        <p:nvSpPr>
          <p:cNvPr id="30" name="Shape 28"/>
          <p:cNvSpPr/>
          <p:nvPr/>
        </p:nvSpPr>
        <p:spPr>
          <a:xfrm>
            <a:off x="8964613" y="8361164"/>
            <a:ext cx="1848148" cy="575866"/>
          </a:xfrm>
          <a:prstGeom prst="roundRect">
            <a:avLst>
              <a:gd name="adj" fmla="val 16540"/>
            </a:avLst>
          </a:prstGeom>
          <a:solidFill>
            <a:srgbClr val="FFFFFF"/>
          </a:solidFill>
          <a:ln w="6350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226995" y="8495530"/>
            <a:ext cx="1399584" cy="34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45"/>
              </a:lnSpc>
              <a:buNone/>
            </a:pPr>
            <a:r>
              <a:rPr lang="en-US" sz="2016" b="1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</a:t>
            </a:r>
            <a:endParaRPr lang="en-US" sz="2016" dirty="0"/>
          </a:p>
        </p:txBody>
      </p:sp>
      <p:sp>
        <p:nvSpPr>
          <p:cNvPr id="32" name="Text 30"/>
          <p:cNvSpPr/>
          <p:nvPr/>
        </p:nvSpPr>
        <p:spPr>
          <a:xfrm>
            <a:off x="10995621" y="8429625"/>
            <a:ext cx="368895" cy="476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30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4" dirty="0"/>
          </a:p>
        </p:txBody>
      </p:sp>
      <p:sp>
        <p:nvSpPr>
          <p:cNvPr id="33" name="Shape 31"/>
          <p:cNvSpPr/>
          <p:nvPr/>
        </p:nvSpPr>
        <p:spPr>
          <a:xfrm>
            <a:off x="11471177" y="8361164"/>
            <a:ext cx="2474714" cy="575866"/>
          </a:xfrm>
          <a:prstGeom prst="roundRect">
            <a:avLst>
              <a:gd name="adj" fmla="val 16540"/>
            </a:avLst>
          </a:prstGeom>
          <a:solidFill>
            <a:srgbClr val="FFFFFF"/>
          </a:solidFill>
          <a:ln w="6350">
            <a:solidFill>
              <a:srgbClr val="CDD2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1733559" y="8495530"/>
            <a:ext cx="2026150" cy="34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45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identity</a:t>
            </a:r>
            <a:endParaRPr lang="en-US" sz="2016" dirty="0"/>
          </a:p>
        </p:txBody>
      </p:sp>
      <p:sp>
        <p:nvSpPr>
          <p:cNvPr id="35" name="Text 33"/>
          <p:cNvSpPr/>
          <p:nvPr/>
        </p:nvSpPr>
        <p:spPr>
          <a:xfrm>
            <a:off x="14128750" y="8429625"/>
            <a:ext cx="368895" cy="4769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2304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304" dirty="0"/>
          </a:p>
        </p:txBody>
      </p:sp>
      <p:sp>
        <p:nvSpPr>
          <p:cNvPr id="36" name="Shape 34"/>
          <p:cNvSpPr/>
          <p:nvPr/>
        </p:nvSpPr>
        <p:spPr>
          <a:xfrm>
            <a:off x="1432719" y="9119890"/>
            <a:ext cx="3399334" cy="575866"/>
          </a:xfrm>
          <a:prstGeom prst="roundRect">
            <a:avLst>
              <a:gd name="adj" fmla="val 16540"/>
            </a:avLst>
          </a:prstGeom>
          <a:solidFill>
            <a:srgbClr val="FFFFFF"/>
          </a:solidFill>
          <a:ln w="6350">
            <a:solidFill>
              <a:srgbClr val="CDD2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695101" y="9254256"/>
            <a:ext cx="2976550" cy="3452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2945"/>
              </a:lnSpc>
              <a:buNone/>
            </a:pPr>
            <a:r>
              <a:rPr lang="en-US" sz="2016" b="1" dirty="0">
                <a:solidFill>
                  <a:srgbClr val="161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AI Foundry models</a:t>
            </a:r>
            <a:endParaRPr lang="en-US" sz="2016" dirty="0"/>
          </a:p>
        </p:txBody>
      </p:sp>
      <p:sp>
        <p:nvSpPr>
          <p:cNvPr id="38" name="Text 36"/>
          <p:cNvSpPr/>
          <p:nvPr/>
        </p:nvSpPr>
        <p:spPr>
          <a:xfrm>
            <a:off x="1097260" y="10342066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39" name="Text 37"/>
          <p:cNvSpPr/>
          <p:nvPr/>
        </p:nvSpPr>
        <p:spPr>
          <a:xfrm>
            <a:off x="16905883" y="10342066"/>
            <a:ext cx="361057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016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C0E12"/>
          </a:solidFill>
          <a:ln/>
        </p:spPr>
      </p:sp>
      <p:sp>
        <p:nvSpPr>
          <p:cNvPr id="3" name="Text 1"/>
          <p:cNvSpPr/>
          <p:nvPr/>
        </p:nvSpPr>
        <p:spPr>
          <a:xfrm>
            <a:off x="1097260" y="914400"/>
            <a:ext cx="17702829" cy="4330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3680"/>
              </a:lnSpc>
              <a:buNone/>
            </a:pPr>
            <a:r>
              <a:rPr lang="en-US" sz="2592" b="1" spc="207" kern="0" dirty="0">
                <a:solidFill>
                  <a:srgbClr val="C810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</a:t>
            </a:r>
            <a:endParaRPr lang="en-US" sz="2592" dirty="0"/>
          </a:p>
        </p:txBody>
      </p:sp>
      <p:sp>
        <p:nvSpPr>
          <p:cNvPr id="4" name="Text 2"/>
          <p:cNvSpPr/>
          <p:nvPr/>
        </p:nvSpPr>
        <p:spPr>
          <a:xfrm>
            <a:off x="1097260" y="1583631"/>
            <a:ext cx="17702829" cy="1089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9759"/>
              </a:lnSpc>
              <a:buNone/>
            </a:pPr>
            <a:r>
              <a:rPr lang="en-US" sz="7200" b="1" spc="-144" kern="0" dirty="0">
                <a:solidFill>
                  <a:srgbClr val="F1F3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API Management · AI Gateway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097260" y="3000871"/>
            <a:ext cx="12055369" cy="1738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273"/>
              </a:lnSpc>
              <a:buNone/>
            </a:pPr>
            <a:r>
              <a:rPr lang="en-US" sz="2880" dirty="0">
                <a:solidFill>
                  <a:srgbClr val="9AA1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Azure-native on Entra ID, Copilot BYOK, and Azure AI Foundry, with zero new vendors — and the engine behind Foundry’s own gateway feature.</a:t>
            </a:r>
            <a:endParaRPr lang="en-US" sz="2880" dirty="0"/>
          </a:p>
        </p:txBody>
      </p:sp>
      <p:sp>
        <p:nvSpPr>
          <p:cNvPr id="6" name="Text 4"/>
          <p:cNvSpPr/>
          <p:nvPr/>
        </p:nvSpPr>
        <p:spPr>
          <a:xfrm>
            <a:off x="1097260" y="8988623"/>
            <a:ext cx="3694628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gateway market landscape</a:t>
            </a:r>
            <a:endParaRPr lang="en-US" sz="2016" dirty="0"/>
          </a:p>
        </p:txBody>
      </p:sp>
      <p:sp>
        <p:nvSpPr>
          <p:cNvPr id="7" name="Text 5"/>
          <p:cNvSpPr/>
          <p:nvPr/>
        </p:nvSpPr>
        <p:spPr>
          <a:xfrm>
            <a:off x="16905883" y="8988623"/>
            <a:ext cx="361057" cy="4220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681"/>
              </a:lnSpc>
              <a:buNone/>
            </a:pPr>
            <a:r>
              <a:rPr lang="en-US" sz="2016" dirty="0">
                <a:solidFill>
                  <a:srgbClr val="6C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01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2026-07-19T08:36:16Z</dcterms:created>
  <dcterms:modified xsi:type="dcterms:W3CDTF">2026-07-19T08:36:16Z</dcterms:modified>
</cp:coreProperties>
</file>